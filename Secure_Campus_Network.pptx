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State the project title clearly: a secure campus network using subnetting, VLANs, routing, and ACLs. Mention your name and course briefly, then move to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goal is to design a working campus network that connects three departments — Admin, Academic, and Hostel — while making sure communication between them is controlled and secure using ACLs.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topology: each department has PCs connected to a switch, and all switches connect to a central router. The router handles traffic between departments (inter-VLAN routing) and can also connect to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subnetting: each department is assigned its own /24 subnet (Admin 192.168.1.0/24, Academic 192.168.2.0/24, Hostel 192.168.3.0/24). This keeps broadcast traffic local and makes it easy to apply security rules per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VLANs: VLAN 10 for Admin, VLAN 20 for Academic, VLAN 30 for Hostel. Even if devices share the same physical switch, VLANs logically separate their traffic for better security and easier management. Show the sample switch config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router connects all three VLANs and allows inter-network communication. Ping (ICMP) is used to test reachability between subnets. Note that before applying ACLs, all pings succeed; the 'partial success' happens once ACL rules are introduced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ACL: it is applied on the router interface facing the Hostel VLAN. One rule blocks Hostel-to-Admin traffic, another explicitly permits Admin-to-Hostel traffic. Emphasize the outcome: one-way communication is achieved, which is a simple, real demonstration of network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065A82">
              <a:alpha val="45000"/>
            </a:srgbClr>
          </a:solidFill>
          <a:ln/>
        </p:spPr>
      </p:sp>
      <p:sp>
        <p:nvSpPr>
          <p:cNvPr id="3" name="Shape 1"/>
          <p:cNvSpPr/>
          <p:nvPr/>
        </p:nvSpPr>
        <p:spPr>
          <a:xfrm>
            <a:off x="10607040" y="4389120"/>
            <a:ext cx="2926080" cy="2926080"/>
          </a:xfrm>
          <a:prstGeom prst="ellipse">
            <a:avLst/>
          </a:prstGeom>
          <a:solidFill>
            <a:srgbClr val="1C7293">
              <a:alpha val="45000"/>
            </a:srgbClr>
          </a:solidFill>
          <a:ln/>
        </p:spPr>
      </p:sp>
      <p:sp>
        <p:nvSpPr>
          <p:cNvPr id="4" name="Shape 2"/>
          <p:cNvSpPr/>
          <p:nvPr/>
        </p:nvSpPr>
        <p:spPr>
          <a:xfrm>
            <a:off x="-1371600" y="4846320"/>
            <a:ext cx="3291840" cy="3291840"/>
          </a:xfrm>
          <a:prstGeom prst="ellipse">
            <a:avLst/>
          </a:prstGeom>
          <a:solidFill>
            <a:srgbClr val="065A82">
              <a:alpha val="40000"/>
            </a:srgbClr>
          </a:solidFill>
          <a:ln/>
        </p:spPr>
      </p:sp>
      <p:sp>
        <p:nvSpPr>
          <p:cNvPr id="5" name="Shape 3"/>
          <p:cNvSpPr/>
          <p:nvPr/>
        </p:nvSpPr>
        <p:spPr>
          <a:xfrm>
            <a:off x="822960" y="685800"/>
            <a:ext cx="822960" cy="82296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1005840" y="868680"/>
            <a:ext cx="457200" cy="457200"/>
          </a:xfrm>
          <a:prstGeom prst="rect">
            <a:avLst/>
          </a:prstGeom>
        </p:spPr>
      </p:pic>
      <p:sp>
        <p:nvSpPr>
          <p:cNvPr id="7" name="Text 4"/>
          <p:cNvSpPr/>
          <p:nvPr/>
        </p:nvSpPr>
        <p:spPr>
          <a:xfrm>
            <a:off x="822960" y="1965960"/>
            <a:ext cx="914400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COMPUTER NETWORKS PROJECT</a:t>
            </a:r>
            <a:endParaRPr lang="en-US" sz="1400" dirty="0"/>
          </a:p>
        </p:txBody>
      </p:sp>
      <p:sp>
        <p:nvSpPr>
          <p:cNvPr id="8" name="Text 5"/>
          <p:cNvSpPr/>
          <p:nvPr/>
        </p:nvSpPr>
        <p:spPr>
          <a:xfrm>
            <a:off x="777240" y="2377440"/>
            <a:ext cx="9601200" cy="173736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Design and Implementation of a</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Secure Campus Network</a:t>
            </a:r>
            <a:endParaRPr lang="en-US" sz="4000" dirty="0"/>
          </a:p>
        </p:txBody>
      </p:sp>
      <p:sp>
        <p:nvSpPr>
          <p:cNvPr id="9" name="Text 6"/>
          <p:cNvSpPr/>
          <p:nvPr/>
        </p:nvSpPr>
        <p:spPr>
          <a:xfrm>
            <a:off x="822960" y="4069080"/>
            <a:ext cx="8686800" cy="457200"/>
          </a:xfrm>
          <a:prstGeom prst="rect">
            <a:avLst/>
          </a:prstGeom>
          <a:noFill/>
          <a:ln/>
        </p:spPr>
        <p:txBody>
          <a:bodyPr wrap="square" lIns="0" tIns="0" rIns="0" bIns="0" rtlCol="0" anchor="ctr"/>
          <a:lstStyle/>
          <a:p>
            <a:pPr indent="0" marL="0">
              <a:buNone/>
            </a:pPr>
            <a:r>
              <a:rPr lang="en-US" sz="1600" i="1" dirty="0">
                <a:solidFill>
                  <a:srgbClr val="C7D9E8"/>
                </a:solidFill>
                <a:latin typeface="Calibri" pitchFamily="34" charset="0"/>
                <a:ea typeface="Calibri" pitchFamily="34" charset="-122"/>
                <a:cs typeface="Calibri" pitchFamily="34" charset="-120"/>
              </a:rPr>
              <a:t>Using Subnetting, VLANs, Routing, and Access Control Lists (ACL)</a:t>
            </a:r>
            <a:endParaRPr lang="en-US" sz="1600" dirty="0"/>
          </a:p>
        </p:txBody>
      </p:sp>
      <p:sp>
        <p:nvSpPr>
          <p:cNvPr id="10" name="Shape 7"/>
          <p:cNvSpPr/>
          <p:nvPr/>
        </p:nvSpPr>
        <p:spPr>
          <a:xfrm>
            <a:off x="822960" y="5074920"/>
            <a:ext cx="5120640" cy="1234440"/>
          </a:xfrm>
          <a:prstGeom prst="roundRect">
            <a:avLst>
              <a:gd name="adj" fmla="val 5926"/>
            </a:avLst>
          </a:prstGeom>
          <a:solidFill>
            <a:srgbClr val="1A2247"/>
          </a:solidFill>
          <a:ln w="12700">
            <a:solidFill>
              <a:srgbClr val="1C7293"/>
            </a:solidFill>
            <a:prstDash val="solid"/>
          </a:ln>
        </p:spPr>
      </p:sp>
      <p:sp>
        <p:nvSpPr>
          <p:cNvPr id="11" name="Text 8"/>
          <p:cNvSpPr/>
          <p:nvPr/>
        </p:nvSpPr>
        <p:spPr>
          <a:xfrm>
            <a:off x="1051560" y="5193792"/>
            <a:ext cx="4663440" cy="502920"/>
          </a:xfrm>
          <a:prstGeom prst="rect">
            <a:avLst/>
          </a:prstGeom>
          <a:noFill/>
          <a:ln/>
        </p:spPr>
        <p:txBody>
          <a:bodyPr wrap="square" lIns="0" tIns="0" rIns="0" bIns="0" rtlCol="0" anchor="ctr"/>
          <a:lstStyle/>
          <a:p>
            <a:pPr indent="0" marL="0">
              <a:lnSpc>
                <a:spcPct val="130000"/>
              </a:lnSpc>
              <a:buNone/>
            </a:pPr>
            <a:r>
              <a:rPr lang="en-US" sz="1300" b="1" dirty="0">
                <a:solidFill>
                  <a:srgbClr val="5EEAD4"/>
                </a:solidFill>
                <a:latin typeface="Calibri" pitchFamily="34" charset="0"/>
                <a:ea typeface="Calibri" pitchFamily="34" charset="-122"/>
                <a:cs typeface="Calibri" pitchFamily="34" charset="-120"/>
              </a:rPr>
              <a:t>Student Name: </a:t>
            </a: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[Your Full Name]</a:t>
            </a:r>
            <a:endParaRPr lang="en-US" sz="1300" dirty="0"/>
          </a:p>
        </p:txBody>
      </p:sp>
      <p:sp>
        <p:nvSpPr>
          <p:cNvPr id="12" name="Text 9"/>
          <p:cNvSpPr/>
          <p:nvPr/>
        </p:nvSpPr>
        <p:spPr>
          <a:xfrm>
            <a:off x="1051560" y="5742432"/>
            <a:ext cx="4846320" cy="457200"/>
          </a:xfrm>
          <a:prstGeom prst="rect">
            <a:avLst/>
          </a:prstGeom>
          <a:noFill/>
          <a:ln/>
        </p:spPr>
        <p:txBody>
          <a:bodyPr wrap="square" lIns="0" tIns="0" rIns="0" bIns="0" rtlCol="0" anchor="ctr"/>
          <a:lstStyle/>
          <a:p>
            <a:pPr indent="0" marL="0">
              <a:lnSpc>
                <a:spcPct val="130000"/>
              </a:lnSpc>
              <a:buNone/>
            </a:pPr>
            <a:r>
              <a:rPr lang="en-US" sz="1300" b="1" dirty="0">
                <a:solidFill>
                  <a:srgbClr val="5EEAD4"/>
                </a:solidFill>
                <a:latin typeface="Calibri" pitchFamily="34" charset="0"/>
                <a:ea typeface="Calibri" pitchFamily="34" charset="-122"/>
                <a:cs typeface="Calibri" pitchFamily="34" charset="-120"/>
              </a:rPr>
              <a:t>Course / College: </a:t>
            </a: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[Course Name], [College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Objective</a:t>
            </a:r>
            <a:endParaRPr lang="en-US" sz="3200" dirty="0"/>
          </a:p>
        </p:txBody>
      </p:sp>
      <p:sp>
        <p:nvSpPr>
          <p:cNvPr id="3" name="Text 1"/>
          <p:cNvSpPr/>
          <p:nvPr/>
        </p:nvSpPr>
        <p:spPr>
          <a:xfrm>
            <a:off x="548640" y="960120"/>
            <a:ext cx="822960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What this project sets out to achieve</a:t>
            </a:r>
            <a:endParaRPr lang="en-US" sz="1400" dirty="0"/>
          </a:p>
        </p:txBody>
      </p:sp>
      <p:sp>
        <p:nvSpPr>
          <p:cNvPr id="4" name="Shape 2"/>
          <p:cNvSpPr/>
          <p:nvPr/>
        </p:nvSpPr>
        <p:spPr>
          <a:xfrm>
            <a:off x="548640" y="1691640"/>
            <a:ext cx="11064240" cy="1417320"/>
          </a:xfrm>
          <a:prstGeom prst="roundRect">
            <a:avLst>
              <a:gd name="adj" fmla="val 5806"/>
            </a:avLst>
          </a:prstGeom>
          <a:solidFill>
            <a:srgbClr val="F4F9FA"/>
          </a:solidFill>
          <a:ln/>
          <a:effectLst>
            <a:outerShdw sx="100000" sy="100000" kx="0" ky="0" algn="bl" rotWithShape="0" blurRad="101600" dist="38100" dir="2700000">
              <a:srgbClr val="000000">
                <a:alpha val="12000"/>
              </a:srgbClr>
            </a:outerShdw>
          </a:effectLst>
        </p:spPr>
      </p:sp>
      <p:sp>
        <p:nvSpPr>
          <p:cNvPr id="5" name="Shape 3"/>
          <p:cNvSpPr/>
          <p:nvPr/>
        </p:nvSpPr>
        <p:spPr>
          <a:xfrm>
            <a:off x="868680" y="2011680"/>
            <a:ext cx="777240" cy="77724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1069848" y="2212848"/>
            <a:ext cx="374904" cy="374904"/>
          </a:xfrm>
          <a:prstGeom prst="rect">
            <a:avLst/>
          </a:prstGeom>
        </p:spPr>
      </p:pic>
      <p:sp>
        <p:nvSpPr>
          <p:cNvPr id="7" name="Text 4"/>
          <p:cNvSpPr/>
          <p:nvPr/>
        </p:nvSpPr>
        <p:spPr>
          <a:xfrm>
            <a:off x="1965960" y="1920240"/>
            <a:ext cx="8961120" cy="457200"/>
          </a:xfrm>
          <a:prstGeom prst="rect">
            <a:avLst/>
          </a:prstGeom>
          <a:noFill/>
          <a:ln/>
        </p:spPr>
        <p:txBody>
          <a:bodyPr wrap="square" lIns="0" tIns="0" rIns="0" bIns="0" rtlCol="0" anchor="ctr"/>
          <a:lstStyle/>
          <a:p>
            <a:pPr indent="0" marL="0">
              <a:buNone/>
            </a:pPr>
            <a:r>
              <a:rPr lang="en-US" sz="1900" b="1" dirty="0">
                <a:solidFill>
                  <a:srgbClr val="21295C"/>
                </a:solidFill>
                <a:latin typeface="Calibri" pitchFamily="34" charset="0"/>
                <a:ea typeface="Calibri" pitchFamily="34" charset="-122"/>
                <a:cs typeface="Calibri" pitchFamily="34" charset="-120"/>
              </a:rPr>
              <a:t>Design a Campus Network</a:t>
            </a:r>
            <a:endParaRPr lang="en-US" sz="1900" dirty="0"/>
          </a:p>
        </p:txBody>
      </p:sp>
      <p:sp>
        <p:nvSpPr>
          <p:cNvPr id="8" name="Text 5"/>
          <p:cNvSpPr/>
          <p:nvPr/>
        </p:nvSpPr>
        <p:spPr>
          <a:xfrm>
            <a:off x="1965960" y="2404872"/>
            <a:ext cx="8961120" cy="5486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Plan a scalable, structured network layout for the entire campus</a:t>
            </a:r>
            <a:endParaRPr lang="en-US" sz="1400" dirty="0"/>
          </a:p>
        </p:txBody>
      </p:sp>
      <p:sp>
        <p:nvSpPr>
          <p:cNvPr id="9" name="Shape 6"/>
          <p:cNvSpPr/>
          <p:nvPr/>
        </p:nvSpPr>
        <p:spPr>
          <a:xfrm>
            <a:off x="548640" y="3246120"/>
            <a:ext cx="11064240" cy="1417320"/>
          </a:xfrm>
          <a:prstGeom prst="roundRect">
            <a:avLst>
              <a:gd name="adj" fmla="val 5806"/>
            </a:avLst>
          </a:prstGeom>
          <a:solidFill>
            <a:srgbClr val="F4F9FA"/>
          </a:solidFill>
          <a:ln/>
          <a:effectLst>
            <a:outerShdw sx="100000" sy="100000" kx="0" ky="0" algn="bl" rotWithShape="0" blurRad="101600" dist="38100" dir="2700000">
              <a:srgbClr val="000000">
                <a:alpha val="12000"/>
              </a:srgbClr>
            </a:outerShdw>
          </a:effectLst>
        </p:spPr>
      </p:sp>
      <p:sp>
        <p:nvSpPr>
          <p:cNvPr id="10" name="Shape 7"/>
          <p:cNvSpPr/>
          <p:nvPr/>
        </p:nvSpPr>
        <p:spPr>
          <a:xfrm>
            <a:off x="868680" y="3566160"/>
            <a:ext cx="777240" cy="77724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1069848" y="3767328"/>
            <a:ext cx="374904" cy="374904"/>
          </a:xfrm>
          <a:prstGeom prst="rect">
            <a:avLst/>
          </a:prstGeom>
        </p:spPr>
      </p:pic>
      <p:sp>
        <p:nvSpPr>
          <p:cNvPr id="12" name="Text 8"/>
          <p:cNvSpPr/>
          <p:nvPr/>
        </p:nvSpPr>
        <p:spPr>
          <a:xfrm>
            <a:off x="1965960" y="3474720"/>
            <a:ext cx="8961120" cy="457200"/>
          </a:xfrm>
          <a:prstGeom prst="rect">
            <a:avLst/>
          </a:prstGeom>
          <a:noFill/>
          <a:ln/>
        </p:spPr>
        <p:txBody>
          <a:bodyPr wrap="square" lIns="0" tIns="0" rIns="0" bIns="0" rtlCol="0" anchor="ctr"/>
          <a:lstStyle/>
          <a:p>
            <a:pPr indent="0" marL="0">
              <a:buNone/>
            </a:pPr>
            <a:r>
              <a:rPr lang="en-US" sz="1900" b="1" dirty="0">
                <a:solidFill>
                  <a:srgbClr val="21295C"/>
                </a:solidFill>
                <a:latin typeface="Calibri" pitchFamily="34" charset="0"/>
                <a:ea typeface="Calibri" pitchFamily="34" charset="-122"/>
                <a:cs typeface="Calibri" pitchFamily="34" charset="-120"/>
              </a:rPr>
              <a:t>Connect Three Departments</a:t>
            </a:r>
            <a:endParaRPr lang="en-US" sz="1900" dirty="0"/>
          </a:p>
        </p:txBody>
      </p:sp>
      <p:sp>
        <p:nvSpPr>
          <p:cNvPr id="13" name="Text 9"/>
          <p:cNvSpPr/>
          <p:nvPr/>
        </p:nvSpPr>
        <p:spPr>
          <a:xfrm>
            <a:off x="1965960" y="3959352"/>
            <a:ext cx="8961120" cy="5486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Integrate Admin, Academic, and Hostel blocks into one network</a:t>
            </a:r>
            <a:endParaRPr lang="en-US" sz="1400" dirty="0"/>
          </a:p>
        </p:txBody>
      </p:sp>
      <p:sp>
        <p:nvSpPr>
          <p:cNvPr id="14" name="Shape 10"/>
          <p:cNvSpPr/>
          <p:nvPr/>
        </p:nvSpPr>
        <p:spPr>
          <a:xfrm>
            <a:off x="548640" y="4800600"/>
            <a:ext cx="11064240" cy="1417320"/>
          </a:xfrm>
          <a:prstGeom prst="roundRect">
            <a:avLst>
              <a:gd name="adj" fmla="val 5806"/>
            </a:avLst>
          </a:prstGeom>
          <a:solidFill>
            <a:srgbClr val="F4F9FA"/>
          </a:solidFill>
          <a:ln/>
          <a:effectLst>
            <a:outerShdw sx="100000" sy="100000" kx="0" ky="0" algn="bl" rotWithShape="0" blurRad="101600" dist="38100" dir="2700000">
              <a:srgbClr val="000000">
                <a:alpha val="12000"/>
              </a:srgbClr>
            </a:outerShdw>
          </a:effectLst>
        </p:spPr>
      </p:sp>
      <p:sp>
        <p:nvSpPr>
          <p:cNvPr id="15" name="Shape 11"/>
          <p:cNvSpPr/>
          <p:nvPr/>
        </p:nvSpPr>
        <p:spPr>
          <a:xfrm>
            <a:off x="868680" y="5120640"/>
            <a:ext cx="777240" cy="777240"/>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1069848" y="5321808"/>
            <a:ext cx="374904" cy="374904"/>
          </a:xfrm>
          <a:prstGeom prst="rect">
            <a:avLst/>
          </a:prstGeom>
        </p:spPr>
      </p:pic>
      <p:sp>
        <p:nvSpPr>
          <p:cNvPr id="17" name="Text 12"/>
          <p:cNvSpPr/>
          <p:nvPr/>
        </p:nvSpPr>
        <p:spPr>
          <a:xfrm>
            <a:off x="1965960" y="5029200"/>
            <a:ext cx="8961120" cy="457200"/>
          </a:xfrm>
          <a:prstGeom prst="rect">
            <a:avLst/>
          </a:prstGeom>
          <a:noFill/>
          <a:ln/>
        </p:spPr>
        <p:txBody>
          <a:bodyPr wrap="square" lIns="0" tIns="0" rIns="0" bIns="0" rtlCol="0" anchor="ctr"/>
          <a:lstStyle/>
          <a:p>
            <a:pPr indent="0" marL="0">
              <a:buNone/>
            </a:pPr>
            <a:r>
              <a:rPr lang="en-US" sz="1900" b="1" dirty="0">
                <a:solidFill>
                  <a:srgbClr val="21295C"/>
                </a:solidFill>
                <a:latin typeface="Calibri" pitchFamily="34" charset="0"/>
                <a:ea typeface="Calibri" pitchFamily="34" charset="-122"/>
                <a:cs typeface="Calibri" pitchFamily="34" charset="-120"/>
              </a:rPr>
              <a:t>Ensure Secure Communication</a:t>
            </a:r>
            <a:endParaRPr lang="en-US" sz="1900" dirty="0"/>
          </a:p>
        </p:txBody>
      </p:sp>
      <p:sp>
        <p:nvSpPr>
          <p:cNvPr id="18" name="Text 13"/>
          <p:cNvSpPr/>
          <p:nvPr/>
        </p:nvSpPr>
        <p:spPr>
          <a:xfrm>
            <a:off x="1965960" y="5513832"/>
            <a:ext cx="8961120" cy="5486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Control traffic between departments using Access Control Lists (ACL)</a:t>
            </a:r>
            <a:endParaRPr lang="en-US" sz="1400" dirty="0"/>
          </a:p>
        </p:txBody>
      </p:sp>
      <p:sp>
        <p:nvSpPr>
          <p:cNvPr id="19" name="Text 14"/>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Secure Campus Network Design</a:t>
            </a:r>
            <a:endParaRPr lang="en-US" sz="900" dirty="0"/>
          </a:p>
        </p:txBody>
      </p:sp>
      <p:sp>
        <p:nvSpPr>
          <p:cNvPr id="20" name="Text 15"/>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64008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Network Design</a:t>
            </a:r>
            <a:endParaRPr lang="en-US" sz="32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Basic topology connecting all campus departments</a:t>
            </a:r>
            <a:endParaRPr lang="en-US" sz="1400" dirty="0"/>
          </a:p>
        </p:txBody>
      </p:sp>
      <p:sp>
        <p:nvSpPr>
          <p:cNvPr id="4" name="Shape 2"/>
          <p:cNvSpPr/>
          <p:nvPr/>
        </p:nvSpPr>
        <p:spPr>
          <a:xfrm>
            <a:off x="5074920" y="2514600"/>
            <a:ext cx="1005840" cy="731520"/>
          </a:xfrm>
          <a:prstGeom prst="roundRect">
            <a:avLst>
              <a:gd name="adj" fmla="val 10000"/>
            </a:avLst>
          </a:prstGeom>
          <a:solidFill>
            <a:srgbClr val="21295C"/>
          </a:solidFill>
          <a:ln/>
          <a:effectLst>
            <a:outerShdw sx="100000" sy="100000" kx="0" ky="0" algn="bl" rotWithShape="0" blurRad="101600" dist="38100" dir="27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5330952" y="2660904"/>
            <a:ext cx="493776" cy="438912"/>
          </a:xfrm>
          <a:prstGeom prst="rect">
            <a:avLst/>
          </a:prstGeom>
        </p:spPr>
      </p:pic>
      <p:sp>
        <p:nvSpPr>
          <p:cNvPr id="6" name="Text 3"/>
          <p:cNvSpPr/>
          <p:nvPr/>
        </p:nvSpPr>
        <p:spPr>
          <a:xfrm>
            <a:off x="4937760" y="3264408"/>
            <a:ext cx="1280160" cy="27432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Router</a:t>
            </a:r>
            <a:endParaRPr lang="en-US" sz="1100" dirty="0"/>
          </a:p>
        </p:txBody>
      </p:sp>
      <p:sp>
        <p:nvSpPr>
          <p:cNvPr id="7" name="Shape 4"/>
          <p:cNvSpPr/>
          <p:nvPr/>
        </p:nvSpPr>
        <p:spPr>
          <a:xfrm>
            <a:off x="1280160" y="3840480"/>
            <a:ext cx="4297680" cy="0"/>
          </a:xfrm>
          <a:prstGeom prst="line">
            <a:avLst/>
          </a:prstGeom>
          <a:noFill/>
          <a:ln w="25400">
            <a:solidFill>
              <a:srgbClr val="9FB8C8"/>
            </a:solidFill>
            <a:prstDash val="solid"/>
          </a:ln>
        </p:spPr>
      </p:sp>
      <p:sp>
        <p:nvSpPr>
          <p:cNvPr id="8" name="Shape 5"/>
          <p:cNvSpPr/>
          <p:nvPr/>
        </p:nvSpPr>
        <p:spPr>
          <a:xfrm>
            <a:off x="5577840" y="3246120"/>
            <a:ext cx="0" cy="594360"/>
          </a:xfrm>
          <a:prstGeom prst="line">
            <a:avLst/>
          </a:prstGeom>
          <a:noFill/>
          <a:ln w="25400">
            <a:solidFill>
              <a:srgbClr val="9FB8C8"/>
            </a:solidFill>
            <a:prstDash val="solid"/>
          </a:ln>
        </p:spPr>
      </p:sp>
      <p:sp>
        <p:nvSpPr>
          <p:cNvPr id="9" name="Shape 6"/>
          <p:cNvSpPr/>
          <p:nvPr/>
        </p:nvSpPr>
        <p:spPr>
          <a:xfrm>
            <a:off x="1280160" y="3840480"/>
            <a:ext cx="0" cy="640080"/>
          </a:xfrm>
          <a:prstGeom prst="line">
            <a:avLst/>
          </a:prstGeom>
          <a:noFill/>
          <a:ln w="25400">
            <a:solidFill>
              <a:srgbClr val="9FB8C8"/>
            </a:solidFill>
            <a:prstDash val="solid"/>
          </a:ln>
        </p:spPr>
      </p:sp>
      <p:sp>
        <p:nvSpPr>
          <p:cNvPr id="10" name="Shape 7"/>
          <p:cNvSpPr/>
          <p:nvPr/>
        </p:nvSpPr>
        <p:spPr>
          <a:xfrm>
            <a:off x="822960" y="4480560"/>
            <a:ext cx="914400" cy="502920"/>
          </a:xfrm>
          <a:prstGeom prst="roundRect">
            <a:avLst>
              <a:gd name="adj" fmla="val 10909"/>
            </a:avLst>
          </a:prstGeom>
          <a:solidFill>
            <a:srgbClr val="065A82"/>
          </a:solidFill>
          <a:ln/>
          <a:effectLst>
            <a:outerShdw sx="100000" sy="100000" kx="0" ky="0" algn="bl" rotWithShape="0" blurRad="101600" dist="38100" dir="27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1097280" y="4553712"/>
            <a:ext cx="365760" cy="365760"/>
          </a:xfrm>
          <a:prstGeom prst="rect">
            <a:avLst/>
          </a:prstGeom>
        </p:spPr>
      </p:pic>
      <p:sp>
        <p:nvSpPr>
          <p:cNvPr id="12" name="Shape 8"/>
          <p:cNvSpPr/>
          <p:nvPr/>
        </p:nvSpPr>
        <p:spPr>
          <a:xfrm>
            <a:off x="1280160" y="4983480"/>
            <a:ext cx="0" cy="320040"/>
          </a:xfrm>
          <a:prstGeom prst="line">
            <a:avLst/>
          </a:prstGeom>
          <a:noFill/>
          <a:ln w="25400">
            <a:solidFill>
              <a:srgbClr val="9FB8C8"/>
            </a:solidFill>
            <a:prstDash val="solid"/>
          </a:ln>
        </p:spPr>
      </p:sp>
      <p:sp>
        <p:nvSpPr>
          <p:cNvPr id="13" name="Shape 9"/>
          <p:cNvSpPr/>
          <p:nvPr/>
        </p:nvSpPr>
        <p:spPr>
          <a:xfrm>
            <a:off x="987552" y="5303520"/>
            <a:ext cx="585216" cy="585216"/>
          </a:xfrm>
          <a:prstGeom prst="ellipse">
            <a:avLst/>
          </a:prstGeom>
          <a:solidFill>
            <a:srgbClr val="F4F9FA"/>
          </a:solidFill>
          <a:ln w="19050">
            <a:solidFill>
              <a:srgbClr val="065A82"/>
            </a:solidFill>
            <a:prstDash val="solid"/>
          </a:ln>
        </p:spPr>
      </p:sp>
      <p:pic>
        <p:nvPicPr>
          <p:cNvPr id="14" name="Image 2" descr="preencoded.png">    </p:cNvPr>
          <p:cNvPicPr>
            <a:picLocks noChangeAspect="1"/>
          </p:cNvPicPr>
          <p:nvPr/>
        </p:nvPicPr>
        <p:blipFill>
          <a:blip r:embed="rId3"/>
          <a:stretch>
            <a:fillRect/>
          </a:stretch>
        </p:blipFill>
        <p:spPr>
          <a:xfrm>
            <a:off x="1106424" y="5431536"/>
            <a:ext cx="347472" cy="329184"/>
          </a:xfrm>
          <a:prstGeom prst="rect">
            <a:avLst/>
          </a:prstGeom>
        </p:spPr>
      </p:pic>
      <p:sp>
        <p:nvSpPr>
          <p:cNvPr id="15" name="Text 10"/>
          <p:cNvSpPr/>
          <p:nvPr/>
        </p:nvSpPr>
        <p:spPr>
          <a:xfrm>
            <a:off x="457200" y="5961888"/>
            <a:ext cx="1645920" cy="320040"/>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Admin</a:t>
            </a:r>
            <a:endParaRPr lang="en-US" sz="1300" dirty="0"/>
          </a:p>
        </p:txBody>
      </p:sp>
      <p:sp>
        <p:nvSpPr>
          <p:cNvPr id="16" name="Shape 11"/>
          <p:cNvSpPr/>
          <p:nvPr/>
        </p:nvSpPr>
        <p:spPr>
          <a:xfrm>
            <a:off x="5577840" y="3840480"/>
            <a:ext cx="0" cy="0"/>
          </a:xfrm>
          <a:prstGeom prst="line">
            <a:avLst/>
          </a:prstGeom>
          <a:noFill/>
          <a:ln w="25400">
            <a:solidFill>
              <a:srgbClr val="9FB8C8"/>
            </a:solidFill>
            <a:prstDash val="solid"/>
          </a:ln>
        </p:spPr>
      </p:sp>
      <p:sp>
        <p:nvSpPr>
          <p:cNvPr id="17" name="Shape 12"/>
          <p:cNvSpPr/>
          <p:nvPr/>
        </p:nvSpPr>
        <p:spPr>
          <a:xfrm>
            <a:off x="5577840" y="3246120"/>
            <a:ext cx="0" cy="594360"/>
          </a:xfrm>
          <a:prstGeom prst="line">
            <a:avLst/>
          </a:prstGeom>
          <a:noFill/>
          <a:ln w="25400">
            <a:solidFill>
              <a:srgbClr val="9FB8C8"/>
            </a:solidFill>
            <a:prstDash val="solid"/>
          </a:ln>
        </p:spPr>
      </p:sp>
      <p:sp>
        <p:nvSpPr>
          <p:cNvPr id="18" name="Shape 13"/>
          <p:cNvSpPr/>
          <p:nvPr/>
        </p:nvSpPr>
        <p:spPr>
          <a:xfrm>
            <a:off x="5577840" y="3840480"/>
            <a:ext cx="0" cy="640080"/>
          </a:xfrm>
          <a:prstGeom prst="line">
            <a:avLst/>
          </a:prstGeom>
          <a:noFill/>
          <a:ln w="25400">
            <a:solidFill>
              <a:srgbClr val="9FB8C8"/>
            </a:solidFill>
            <a:prstDash val="solid"/>
          </a:ln>
        </p:spPr>
      </p:sp>
      <p:sp>
        <p:nvSpPr>
          <p:cNvPr id="19" name="Shape 14"/>
          <p:cNvSpPr/>
          <p:nvPr/>
        </p:nvSpPr>
        <p:spPr>
          <a:xfrm>
            <a:off x="5120640" y="4480560"/>
            <a:ext cx="914400" cy="502920"/>
          </a:xfrm>
          <a:prstGeom prst="roundRect">
            <a:avLst>
              <a:gd name="adj" fmla="val 10909"/>
            </a:avLst>
          </a:prstGeom>
          <a:solidFill>
            <a:srgbClr val="1C7293"/>
          </a:solidFill>
          <a:ln/>
          <a:effectLst>
            <a:outerShdw sx="100000" sy="100000" kx="0" ky="0" algn="bl" rotWithShape="0" blurRad="101600" dist="38100" dir="27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5394960" y="4553712"/>
            <a:ext cx="365760" cy="365760"/>
          </a:xfrm>
          <a:prstGeom prst="rect">
            <a:avLst/>
          </a:prstGeom>
        </p:spPr>
      </p:pic>
      <p:sp>
        <p:nvSpPr>
          <p:cNvPr id="21" name="Shape 15"/>
          <p:cNvSpPr/>
          <p:nvPr/>
        </p:nvSpPr>
        <p:spPr>
          <a:xfrm>
            <a:off x="5577840" y="4983480"/>
            <a:ext cx="0" cy="320040"/>
          </a:xfrm>
          <a:prstGeom prst="line">
            <a:avLst/>
          </a:prstGeom>
          <a:noFill/>
          <a:ln w="25400">
            <a:solidFill>
              <a:srgbClr val="9FB8C8"/>
            </a:solidFill>
            <a:prstDash val="solid"/>
          </a:ln>
        </p:spPr>
      </p:sp>
      <p:sp>
        <p:nvSpPr>
          <p:cNvPr id="22" name="Shape 16"/>
          <p:cNvSpPr/>
          <p:nvPr/>
        </p:nvSpPr>
        <p:spPr>
          <a:xfrm>
            <a:off x="5285232" y="5303520"/>
            <a:ext cx="585216" cy="585216"/>
          </a:xfrm>
          <a:prstGeom prst="ellipse">
            <a:avLst/>
          </a:prstGeom>
          <a:solidFill>
            <a:srgbClr val="F4F9FA"/>
          </a:solidFill>
          <a:ln w="19050">
            <a:solidFill>
              <a:srgbClr val="1C7293"/>
            </a:solidFill>
            <a:prstDash val="solid"/>
          </a:ln>
        </p:spPr>
      </p:sp>
      <p:pic>
        <p:nvPicPr>
          <p:cNvPr id="23" name="Image 4" descr="preencoded.png">    </p:cNvPr>
          <p:cNvPicPr>
            <a:picLocks noChangeAspect="1"/>
          </p:cNvPicPr>
          <p:nvPr/>
        </p:nvPicPr>
        <p:blipFill>
          <a:blip r:embed="rId5"/>
          <a:stretch>
            <a:fillRect/>
          </a:stretch>
        </p:blipFill>
        <p:spPr>
          <a:xfrm>
            <a:off x="5404104" y="5431536"/>
            <a:ext cx="347472" cy="329184"/>
          </a:xfrm>
          <a:prstGeom prst="rect">
            <a:avLst/>
          </a:prstGeom>
        </p:spPr>
      </p:pic>
      <p:sp>
        <p:nvSpPr>
          <p:cNvPr id="24" name="Text 17"/>
          <p:cNvSpPr/>
          <p:nvPr/>
        </p:nvSpPr>
        <p:spPr>
          <a:xfrm>
            <a:off x="4754880" y="5961888"/>
            <a:ext cx="1645920" cy="320040"/>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Academic</a:t>
            </a:r>
            <a:endParaRPr lang="en-US" sz="1300" dirty="0"/>
          </a:p>
        </p:txBody>
      </p:sp>
      <p:sp>
        <p:nvSpPr>
          <p:cNvPr id="25" name="Shape 18"/>
          <p:cNvSpPr/>
          <p:nvPr/>
        </p:nvSpPr>
        <p:spPr>
          <a:xfrm>
            <a:off x="5577840" y="3840480"/>
            <a:ext cx="4297680" cy="0"/>
          </a:xfrm>
          <a:prstGeom prst="line">
            <a:avLst/>
          </a:prstGeom>
          <a:noFill/>
          <a:ln w="25400">
            <a:solidFill>
              <a:srgbClr val="9FB8C8"/>
            </a:solidFill>
            <a:prstDash val="solid"/>
          </a:ln>
        </p:spPr>
      </p:sp>
      <p:sp>
        <p:nvSpPr>
          <p:cNvPr id="26" name="Shape 19"/>
          <p:cNvSpPr/>
          <p:nvPr/>
        </p:nvSpPr>
        <p:spPr>
          <a:xfrm>
            <a:off x="5577840" y="3246120"/>
            <a:ext cx="0" cy="594360"/>
          </a:xfrm>
          <a:prstGeom prst="line">
            <a:avLst/>
          </a:prstGeom>
          <a:noFill/>
          <a:ln w="25400">
            <a:solidFill>
              <a:srgbClr val="9FB8C8"/>
            </a:solidFill>
            <a:prstDash val="solid"/>
          </a:ln>
        </p:spPr>
      </p:sp>
      <p:sp>
        <p:nvSpPr>
          <p:cNvPr id="27" name="Shape 20"/>
          <p:cNvSpPr/>
          <p:nvPr/>
        </p:nvSpPr>
        <p:spPr>
          <a:xfrm>
            <a:off x="9875520" y="3840480"/>
            <a:ext cx="0" cy="640080"/>
          </a:xfrm>
          <a:prstGeom prst="line">
            <a:avLst/>
          </a:prstGeom>
          <a:noFill/>
          <a:ln w="25400">
            <a:solidFill>
              <a:srgbClr val="9FB8C8"/>
            </a:solidFill>
            <a:prstDash val="solid"/>
          </a:ln>
        </p:spPr>
      </p:sp>
      <p:sp>
        <p:nvSpPr>
          <p:cNvPr id="28" name="Shape 21"/>
          <p:cNvSpPr/>
          <p:nvPr/>
        </p:nvSpPr>
        <p:spPr>
          <a:xfrm>
            <a:off x="9418320" y="4480560"/>
            <a:ext cx="914400" cy="502920"/>
          </a:xfrm>
          <a:prstGeom prst="roundRect">
            <a:avLst>
              <a:gd name="adj" fmla="val 10909"/>
            </a:avLst>
          </a:prstGeom>
          <a:solidFill>
            <a:srgbClr val="065A82"/>
          </a:solidFill>
          <a:ln/>
          <a:effectLst>
            <a:outerShdw sx="100000" sy="100000" kx="0" ky="0" algn="bl" rotWithShape="0" blurRad="101600" dist="38100" dir="2700000">
              <a:srgbClr val="000000">
                <a:alpha val="12000"/>
              </a:srgbClr>
            </a:outerShdw>
          </a:effectLst>
        </p:spPr>
      </p:sp>
      <p:pic>
        <p:nvPicPr>
          <p:cNvPr id="29" name="Image 5" descr="preencoded.png">    </p:cNvPr>
          <p:cNvPicPr>
            <a:picLocks noChangeAspect="1"/>
          </p:cNvPicPr>
          <p:nvPr/>
        </p:nvPicPr>
        <p:blipFill>
          <a:blip r:embed="rId6"/>
          <a:stretch>
            <a:fillRect/>
          </a:stretch>
        </p:blipFill>
        <p:spPr>
          <a:xfrm>
            <a:off x="9692640" y="4553712"/>
            <a:ext cx="365760" cy="365760"/>
          </a:xfrm>
          <a:prstGeom prst="rect">
            <a:avLst/>
          </a:prstGeom>
        </p:spPr>
      </p:pic>
      <p:sp>
        <p:nvSpPr>
          <p:cNvPr id="30" name="Shape 22"/>
          <p:cNvSpPr/>
          <p:nvPr/>
        </p:nvSpPr>
        <p:spPr>
          <a:xfrm>
            <a:off x="9875520" y="4983480"/>
            <a:ext cx="0" cy="320040"/>
          </a:xfrm>
          <a:prstGeom prst="line">
            <a:avLst/>
          </a:prstGeom>
          <a:noFill/>
          <a:ln w="25400">
            <a:solidFill>
              <a:srgbClr val="9FB8C8"/>
            </a:solidFill>
            <a:prstDash val="solid"/>
          </a:ln>
        </p:spPr>
      </p:sp>
      <p:sp>
        <p:nvSpPr>
          <p:cNvPr id="31" name="Shape 23"/>
          <p:cNvSpPr/>
          <p:nvPr/>
        </p:nvSpPr>
        <p:spPr>
          <a:xfrm>
            <a:off x="9582912" y="5303520"/>
            <a:ext cx="585216" cy="585216"/>
          </a:xfrm>
          <a:prstGeom prst="ellipse">
            <a:avLst/>
          </a:prstGeom>
          <a:solidFill>
            <a:srgbClr val="F4F9FA"/>
          </a:solidFill>
          <a:ln w="19050">
            <a:solidFill>
              <a:srgbClr val="065A82"/>
            </a:solidFill>
            <a:prstDash val="solid"/>
          </a:ln>
        </p:spPr>
      </p:sp>
      <p:pic>
        <p:nvPicPr>
          <p:cNvPr id="32" name="Image 6" descr="preencoded.png">    </p:cNvPr>
          <p:cNvPicPr>
            <a:picLocks noChangeAspect="1"/>
          </p:cNvPicPr>
          <p:nvPr/>
        </p:nvPicPr>
        <p:blipFill>
          <a:blip r:embed="rId7"/>
          <a:stretch>
            <a:fillRect/>
          </a:stretch>
        </p:blipFill>
        <p:spPr>
          <a:xfrm>
            <a:off x="9701784" y="5431536"/>
            <a:ext cx="347472" cy="329184"/>
          </a:xfrm>
          <a:prstGeom prst="rect">
            <a:avLst/>
          </a:prstGeom>
        </p:spPr>
      </p:pic>
      <p:sp>
        <p:nvSpPr>
          <p:cNvPr id="33" name="Text 24"/>
          <p:cNvSpPr/>
          <p:nvPr/>
        </p:nvSpPr>
        <p:spPr>
          <a:xfrm>
            <a:off x="9052560" y="5961888"/>
            <a:ext cx="1645920" cy="320040"/>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Hostel</a:t>
            </a:r>
            <a:endParaRPr lang="en-US" sz="1300" dirty="0"/>
          </a:p>
        </p:txBody>
      </p:sp>
      <p:sp>
        <p:nvSpPr>
          <p:cNvPr id="34" name="Shape 25"/>
          <p:cNvSpPr/>
          <p:nvPr/>
        </p:nvSpPr>
        <p:spPr>
          <a:xfrm>
            <a:off x="548640" y="1417320"/>
            <a:ext cx="4480560" cy="2148840"/>
          </a:xfrm>
          <a:prstGeom prst="roundRect">
            <a:avLst>
              <a:gd name="adj" fmla="val 3404"/>
            </a:avLst>
          </a:prstGeom>
          <a:solidFill>
            <a:srgbClr val="F4F9FA"/>
          </a:solidFill>
          <a:ln/>
          <a:effectLst>
            <a:outerShdw sx="100000" sy="100000" kx="0" ky="0" algn="bl" rotWithShape="0" blurRad="101600" dist="38100" dir="2700000">
              <a:srgbClr val="000000">
                <a:alpha val="12000"/>
              </a:srgbClr>
            </a:outerShdw>
          </a:effectLst>
        </p:spPr>
      </p:sp>
      <p:sp>
        <p:nvSpPr>
          <p:cNvPr id="35" name="Text 26"/>
          <p:cNvSpPr/>
          <p:nvPr/>
        </p:nvSpPr>
        <p:spPr>
          <a:xfrm>
            <a:off x="777240" y="1554480"/>
            <a:ext cx="402336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Data Flow</a:t>
            </a:r>
            <a:endParaRPr lang="en-US" sz="1500" dirty="0"/>
          </a:p>
        </p:txBody>
      </p:sp>
      <p:sp>
        <p:nvSpPr>
          <p:cNvPr id="36" name="Text 27"/>
          <p:cNvSpPr/>
          <p:nvPr/>
        </p:nvSpPr>
        <p:spPr>
          <a:xfrm>
            <a:off x="777240" y="1920240"/>
            <a:ext cx="4023360" cy="15544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Each department has its own switch connecting all its PCs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Every switch connects up to the central router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Router forwards traffic between departments (inter-VLAN routing)</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Router also connects the campus to the internet gateway</a:t>
            </a:r>
            <a:endParaRPr lang="en-US" sz="1200" dirty="0"/>
          </a:p>
        </p:txBody>
      </p:sp>
      <p:sp>
        <p:nvSpPr>
          <p:cNvPr id="37" name="Text 28"/>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Secure Campus Network Design</a:t>
            </a:r>
            <a:endParaRPr lang="en-US" sz="900" dirty="0"/>
          </a:p>
        </p:txBody>
      </p:sp>
      <p:sp>
        <p:nvSpPr>
          <p:cNvPr id="38" name="Text 29"/>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64008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IP Addressing (Subnetting)</a:t>
            </a:r>
            <a:endParaRPr lang="en-US" sz="32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Each department gets its own subnet</a:t>
            </a:r>
            <a:endParaRPr lang="en-US" sz="1400" dirty="0"/>
          </a:p>
        </p:txBody>
      </p:sp>
      <p:sp>
        <p:nvSpPr>
          <p:cNvPr id="4" name="Shape 2"/>
          <p:cNvSpPr/>
          <p:nvPr/>
        </p:nvSpPr>
        <p:spPr>
          <a:xfrm>
            <a:off x="548640" y="1600200"/>
            <a:ext cx="3520440" cy="2103120"/>
          </a:xfrm>
          <a:prstGeom prst="roundRect">
            <a:avLst>
              <a:gd name="adj" fmla="val 4348"/>
            </a:avLst>
          </a:prstGeom>
          <a:solidFill>
            <a:srgbClr val="F4F9FA"/>
          </a:solidFill>
          <a:ln/>
          <a:effectLst>
            <a:outerShdw sx="100000" sy="100000" kx="0" ky="0" algn="bl" rotWithShape="0" blurRad="101600" dist="38100" dir="2700000">
              <a:srgbClr val="000000">
                <a:alpha val="12000"/>
              </a:srgbClr>
            </a:outerShdw>
          </a:effectLst>
        </p:spPr>
      </p:sp>
      <p:sp>
        <p:nvSpPr>
          <p:cNvPr id="5" name="Shape 3"/>
          <p:cNvSpPr/>
          <p:nvPr/>
        </p:nvSpPr>
        <p:spPr>
          <a:xfrm>
            <a:off x="777240" y="1828800"/>
            <a:ext cx="640080" cy="64008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932688" y="1984248"/>
            <a:ext cx="329184" cy="329184"/>
          </a:xfrm>
          <a:prstGeom prst="rect">
            <a:avLst/>
          </a:prstGeom>
        </p:spPr>
      </p:pic>
      <p:sp>
        <p:nvSpPr>
          <p:cNvPr id="7" name="Text 4"/>
          <p:cNvSpPr/>
          <p:nvPr/>
        </p:nvSpPr>
        <p:spPr>
          <a:xfrm>
            <a:off x="1554480" y="1874520"/>
            <a:ext cx="2331720" cy="548640"/>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Admin</a:t>
            </a:r>
            <a:endParaRPr lang="en-US" sz="1800" dirty="0"/>
          </a:p>
        </p:txBody>
      </p:sp>
      <p:sp>
        <p:nvSpPr>
          <p:cNvPr id="8" name="Shape 5"/>
          <p:cNvSpPr/>
          <p:nvPr/>
        </p:nvSpPr>
        <p:spPr>
          <a:xfrm>
            <a:off x="777240" y="2651760"/>
            <a:ext cx="3063240" cy="0"/>
          </a:xfrm>
          <a:prstGeom prst="line">
            <a:avLst/>
          </a:prstGeom>
          <a:noFill/>
          <a:ln w="12700">
            <a:solidFill>
              <a:srgbClr val="D6E3E8"/>
            </a:solidFill>
            <a:prstDash val="solid"/>
          </a:ln>
        </p:spPr>
      </p:sp>
      <p:sp>
        <p:nvSpPr>
          <p:cNvPr id="9" name="Text 6"/>
          <p:cNvSpPr/>
          <p:nvPr/>
        </p:nvSpPr>
        <p:spPr>
          <a:xfrm>
            <a:off x="777240" y="2770632"/>
            <a:ext cx="3063240" cy="274320"/>
          </a:xfrm>
          <a:prstGeom prst="rect">
            <a:avLst/>
          </a:prstGeom>
          <a:noFill/>
          <a:ln/>
        </p:spPr>
        <p:txBody>
          <a:bodyPr wrap="square" lIns="0" tIns="0" rIns="0" bIns="0" rtlCol="0" anchor="ctr"/>
          <a:lstStyle/>
          <a:p>
            <a:pPr indent="0" marL="0">
              <a:buNone/>
            </a:pPr>
            <a:r>
              <a:rPr lang="en-US" sz="1050" dirty="0">
                <a:solidFill>
                  <a:srgbClr val="5C6B7A"/>
                </a:solidFill>
                <a:latin typeface="Calibri" pitchFamily="34" charset="0"/>
                <a:ea typeface="Calibri" pitchFamily="34" charset="-122"/>
                <a:cs typeface="Calibri" pitchFamily="34" charset="-120"/>
              </a:rPr>
              <a:t>Network Address</a:t>
            </a:r>
            <a:endParaRPr lang="en-US" sz="1050" dirty="0"/>
          </a:p>
        </p:txBody>
      </p:sp>
      <p:sp>
        <p:nvSpPr>
          <p:cNvPr id="10" name="Text 7"/>
          <p:cNvSpPr/>
          <p:nvPr/>
        </p:nvSpPr>
        <p:spPr>
          <a:xfrm>
            <a:off x="777240" y="3017520"/>
            <a:ext cx="3063240" cy="365760"/>
          </a:xfrm>
          <a:prstGeom prst="rect">
            <a:avLst/>
          </a:prstGeom>
          <a:noFill/>
          <a:ln/>
        </p:spPr>
        <p:txBody>
          <a:bodyPr wrap="square" lIns="0" tIns="0" rIns="0" bIns="0" rtlCol="0" anchor="ctr"/>
          <a:lstStyle/>
          <a:p>
            <a:pPr indent="0" marL="0">
              <a:buNone/>
            </a:pPr>
            <a:r>
              <a:rPr lang="en-US" sz="1700" b="1" dirty="0">
                <a:solidFill>
                  <a:srgbClr val="1C7293"/>
                </a:solidFill>
                <a:latin typeface="Courier New" pitchFamily="34" charset="0"/>
                <a:ea typeface="Courier New" pitchFamily="34" charset="-122"/>
                <a:cs typeface="Courier New" pitchFamily="34" charset="-120"/>
              </a:rPr>
              <a:t>192.168.1.0 /24</a:t>
            </a:r>
            <a:endParaRPr lang="en-US" sz="1700" dirty="0"/>
          </a:p>
        </p:txBody>
      </p:sp>
      <p:sp>
        <p:nvSpPr>
          <p:cNvPr id="11" name="Text 8"/>
          <p:cNvSpPr/>
          <p:nvPr/>
        </p:nvSpPr>
        <p:spPr>
          <a:xfrm>
            <a:off x="777240" y="3410712"/>
            <a:ext cx="3063240" cy="274320"/>
          </a:xfrm>
          <a:prstGeom prst="rect">
            <a:avLst/>
          </a:prstGeom>
          <a:noFill/>
          <a:ln/>
        </p:spPr>
        <p:txBody>
          <a:bodyPr wrap="square" lIns="0" tIns="0" rIns="0" bIns="0" rtlCol="0" anchor="ctr"/>
          <a:lstStyle/>
          <a:p>
            <a:pPr indent="0" marL="0">
              <a:buNone/>
            </a:pPr>
            <a:r>
              <a:rPr lang="en-US" sz="1000" dirty="0">
                <a:solidFill>
                  <a:srgbClr val="5C6B7A"/>
                </a:solidFill>
                <a:latin typeface="Courier New" pitchFamily="34" charset="0"/>
                <a:ea typeface="Courier New" pitchFamily="34" charset="-122"/>
                <a:cs typeface="Courier New" pitchFamily="34" charset="-120"/>
              </a:rPr>
              <a:t>192.168.1.1 – 192.168.1.254</a:t>
            </a:r>
            <a:endParaRPr lang="en-US" sz="1000" dirty="0"/>
          </a:p>
        </p:txBody>
      </p:sp>
      <p:sp>
        <p:nvSpPr>
          <p:cNvPr id="12" name="Shape 9"/>
          <p:cNvSpPr/>
          <p:nvPr/>
        </p:nvSpPr>
        <p:spPr>
          <a:xfrm>
            <a:off x="4343400" y="1600200"/>
            <a:ext cx="3520440" cy="2103120"/>
          </a:xfrm>
          <a:prstGeom prst="roundRect">
            <a:avLst>
              <a:gd name="adj" fmla="val 4348"/>
            </a:avLst>
          </a:prstGeom>
          <a:solidFill>
            <a:srgbClr val="F4F9FA"/>
          </a:solidFill>
          <a:ln/>
          <a:effectLst>
            <a:outerShdw sx="100000" sy="100000" kx="0" ky="0" algn="bl" rotWithShape="0" blurRad="101600" dist="38100" dir="2700000">
              <a:srgbClr val="000000">
                <a:alpha val="12000"/>
              </a:srgbClr>
            </a:outerShdw>
          </a:effectLst>
        </p:spPr>
      </p:sp>
      <p:sp>
        <p:nvSpPr>
          <p:cNvPr id="13" name="Shape 10"/>
          <p:cNvSpPr/>
          <p:nvPr/>
        </p:nvSpPr>
        <p:spPr>
          <a:xfrm>
            <a:off x="4572000" y="1828800"/>
            <a:ext cx="640080" cy="640080"/>
          </a:xfrm>
          <a:prstGeom prst="ellipse">
            <a:avLst/>
          </a:prstGeom>
          <a:solidFill>
            <a:srgbClr val="065A82"/>
          </a:solidFill>
          <a:ln/>
        </p:spPr>
      </p:sp>
      <p:pic>
        <p:nvPicPr>
          <p:cNvPr id="14" name="Image 1" descr="preencoded.png">    </p:cNvPr>
          <p:cNvPicPr>
            <a:picLocks noChangeAspect="1"/>
          </p:cNvPicPr>
          <p:nvPr/>
        </p:nvPicPr>
        <p:blipFill>
          <a:blip r:embed="rId2"/>
          <a:stretch>
            <a:fillRect/>
          </a:stretch>
        </p:blipFill>
        <p:spPr>
          <a:xfrm>
            <a:off x="4727448" y="1984248"/>
            <a:ext cx="329184" cy="329184"/>
          </a:xfrm>
          <a:prstGeom prst="rect">
            <a:avLst/>
          </a:prstGeom>
        </p:spPr>
      </p:pic>
      <p:sp>
        <p:nvSpPr>
          <p:cNvPr id="15" name="Text 11"/>
          <p:cNvSpPr/>
          <p:nvPr/>
        </p:nvSpPr>
        <p:spPr>
          <a:xfrm>
            <a:off x="5349240" y="1874520"/>
            <a:ext cx="2331720" cy="548640"/>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Academic</a:t>
            </a:r>
            <a:endParaRPr lang="en-US" sz="1800" dirty="0"/>
          </a:p>
        </p:txBody>
      </p:sp>
      <p:sp>
        <p:nvSpPr>
          <p:cNvPr id="16" name="Shape 12"/>
          <p:cNvSpPr/>
          <p:nvPr/>
        </p:nvSpPr>
        <p:spPr>
          <a:xfrm>
            <a:off x="4572000" y="2651760"/>
            <a:ext cx="3063240" cy="0"/>
          </a:xfrm>
          <a:prstGeom prst="line">
            <a:avLst/>
          </a:prstGeom>
          <a:noFill/>
          <a:ln w="12700">
            <a:solidFill>
              <a:srgbClr val="D6E3E8"/>
            </a:solidFill>
            <a:prstDash val="solid"/>
          </a:ln>
        </p:spPr>
      </p:sp>
      <p:sp>
        <p:nvSpPr>
          <p:cNvPr id="17" name="Text 13"/>
          <p:cNvSpPr/>
          <p:nvPr/>
        </p:nvSpPr>
        <p:spPr>
          <a:xfrm>
            <a:off x="4572000" y="2770632"/>
            <a:ext cx="3063240" cy="274320"/>
          </a:xfrm>
          <a:prstGeom prst="rect">
            <a:avLst/>
          </a:prstGeom>
          <a:noFill/>
          <a:ln/>
        </p:spPr>
        <p:txBody>
          <a:bodyPr wrap="square" lIns="0" tIns="0" rIns="0" bIns="0" rtlCol="0" anchor="ctr"/>
          <a:lstStyle/>
          <a:p>
            <a:pPr indent="0" marL="0">
              <a:buNone/>
            </a:pPr>
            <a:r>
              <a:rPr lang="en-US" sz="1050" dirty="0">
                <a:solidFill>
                  <a:srgbClr val="5C6B7A"/>
                </a:solidFill>
                <a:latin typeface="Calibri" pitchFamily="34" charset="0"/>
                <a:ea typeface="Calibri" pitchFamily="34" charset="-122"/>
                <a:cs typeface="Calibri" pitchFamily="34" charset="-120"/>
              </a:rPr>
              <a:t>Network Address</a:t>
            </a:r>
            <a:endParaRPr lang="en-US" sz="1050" dirty="0"/>
          </a:p>
        </p:txBody>
      </p:sp>
      <p:sp>
        <p:nvSpPr>
          <p:cNvPr id="18" name="Text 14"/>
          <p:cNvSpPr/>
          <p:nvPr/>
        </p:nvSpPr>
        <p:spPr>
          <a:xfrm>
            <a:off x="4572000" y="3017520"/>
            <a:ext cx="3063240" cy="365760"/>
          </a:xfrm>
          <a:prstGeom prst="rect">
            <a:avLst/>
          </a:prstGeom>
          <a:noFill/>
          <a:ln/>
        </p:spPr>
        <p:txBody>
          <a:bodyPr wrap="square" lIns="0" tIns="0" rIns="0" bIns="0" rtlCol="0" anchor="ctr"/>
          <a:lstStyle/>
          <a:p>
            <a:pPr indent="0" marL="0">
              <a:buNone/>
            </a:pPr>
            <a:r>
              <a:rPr lang="en-US" sz="1700" b="1" dirty="0">
                <a:solidFill>
                  <a:srgbClr val="1C7293"/>
                </a:solidFill>
                <a:latin typeface="Courier New" pitchFamily="34" charset="0"/>
                <a:ea typeface="Courier New" pitchFamily="34" charset="-122"/>
                <a:cs typeface="Courier New" pitchFamily="34" charset="-120"/>
              </a:rPr>
              <a:t>192.168.2.0 /24</a:t>
            </a:r>
            <a:endParaRPr lang="en-US" sz="1700" dirty="0"/>
          </a:p>
        </p:txBody>
      </p:sp>
      <p:sp>
        <p:nvSpPr>
          <p:cNvPr id="19" name="Text 15"/>
          <p:cNvSpPr/>
          <p:nvPr/>
        </p:nvSpPr>
        <p:spPr>
          <a:xfrm>
            <a:off x="4572000" y="3410712"/>
            <a:ext cx="3063240" cy="274320"/>
          </a:xfrm>
          <a:prstGeom prst="rect">
            <a:avLst/>
          </a:prstGeom>
          <a:noFill/>
          <a:ln/>
        </p:spPr>
        <p:txBody>
          <a:bodyPr wrap="square" lIns="0" tIns="0" rIns="0" bIns="0" rtlCol="0" anchor="ctr"/>
          <a:lstStyle/>
          <a:p>
            <a:pPr indent="0" marL="0">
              <a:buNone/>
            </a:pPr>
            <a:r>
              <a:rPr lang="en-US" sz="1000" dirty="0">
                <a:solidFill>
                  <a:srgbClr val="5C6B7A"/>
                </a:solidFill>
                <a:latin typeface="Courier New" pitchFamily="34" charset="0"/>
                <a:ea typeface="Courier New" pitchFamily="34" charset="-122"/>
                <a:cs typeface="Courier New" pitchFamily="34" charset="-120"/>
              </a:rPr>
              <a:t>192.168.2.1 – 192.168.2.254</a:t>
            </a:r>
            <a:endParaRPr lang="en-US" sz="1000" dirty="0"/>
          </a:p>
        </p:txBody>
      </p:sp>
      <p:sp>
        <p:nvSpPr>
          <p:cNvPr id="20" name="Shape 16"/>
          <p:cNvSpPr/>
          <p:nvPr/>
        </p:nvSpPr>
        <p:spPr>
          <a:xfrm>
            <a:off x="8138160" y="1600200"/>
            <a:ext cx="3520440" cy="2103120"/>
          </a:xfrm>
          <a:prstGeom prst="roundRect">
            <a:avLst>
              <a:gd name="adj" fmla="val 4348"/>
            </a:avLst>
          </a:prstGeom>
          <a:solidFill>
            <a:srgbClr val="F4F9FA"/>
          </a:solidFill>
          <a:ln/>
          <a:effectLst>
            <a:outerShdw sx="100000" sy="100000" kx="0" ky="0" algn="bl" rotWithShape="0" blurRad="101600" dist="38100" dir="2700000">
              <a:srgbClr val="000000">
                <a:alpha val="12000"/>
              </a:srgbClr>
            </a:outerShdw>
          </a:effectLst>
        </p:spPr>
      </p:sp>
      <p:sp>
        <p:nvSpPr>
          <p:cNvPr id="21" name="Shape 17"/>
          <p:cNvSpPr/>
          <p:nvPr/>
        </p:nvSpPr>
        <p:spPr>
          <a:xfrm>
            <a:off x="8366760" y="1828800"/>
            <a:ext cx="640080" cy="640080"/>
          </a:xfrm>
          <a:prstGeom prst="ellipse">
            <a:avLst/>
          </a:prstGeom>
          <a:solidFill>
            <a:srgbClr val="065A82"/>
          </a:solidFill>
          <a:ln/>
        </p:spPr>
      </p:sp>
      <p:pic>
        <p:nvPicPr>
          <p:cNvPr id="22" name="Image 2" descr="preencoded.png">    </p:cNvPr>
          <p:cNvPicPr>
            <a:picLocks noChangeAspect="1"/>
          </p:cNvPicPr>
          <p:nvPr/>
        </p:nvPicPr>
        <p:blipFill>
          <a:blip r:embed="rId3"/>
          <a:stretch>
            <a:fillRect/>
          </a:stretch>
        </p:blipFill>
        <p:spPr>
          <a:xfrm>
            <a:off x="8522208" y="1984248"/>
            <a:ext cx="329184" cy="329184"/>
          </a:xfrm>
          <a:prstGeom prst="rect">
            <a:avLst/>
          </a:prstGeom>
        </p:spPr>
      </p:pic>
      <p:sp>
        <p:nvSpPr>
          <p:cNvPr id="23" name="Text 18"/>
          <p:cNvSpPr/>
          <p:nvPr/>
        </p:nvSpPr>
        <p:spPr>
          <a:xfrm>
            <a:off x="9144000" y="1874520"/>
            <a:ext cx="2331720" cy="548640"/>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Hostel</a:t>
            </a:r>
            <a:endParaRPr lang="en-US" sz="1800" dirty="0"/>
          </a:p>
        </p:txBody>
      </p:sp>
      <p:sp>
        <p:nvSpPr>
          <p:cNvPr id="24" name="Shape 19"/>
          <p:cNvSpPr/>
          <p:nvPr/>
        </p:nvSpPr>
        <p:spPr>
          <a:xfrm>
            <a:off x="8366760" y="2651760"/>
            <a:ext cx="3063240" cy="0"/>
          </a:xfrm>
          <a:prstGeom prst="line">
            <a:avLst/>
          </a:prstGeom>
          <a:noFill/>
          <a:ln w="12700">
            <a:solidFill>
              <a:srgbClr val="D6E3E8"/>
            </a:solidFill>
            <a:prstDash val="solid"/>
          </a:ln>
        </p:spPr>
      </p:sp>
      <p:sp>
        <p:nvSpPr>
          <p:cNvPr id="25" name="Text 20"/>
          <p:cNvSpPr/>
          <p:nvPr/>
        </p:nvSpPr>
        <p:spPr>
          <a:xfrm>
            <a:off x="8366760" y="2770632"/>
            <a:ext cx="3063240" cy="274320"/>
          </a:xfrm>
          <a:prstGeom prst="rect">
            <a:avLst/>
          </a:prstGeom>
          <a:noFill/>
          <a:ln/>
        </p:spPr>
        <p:txBody>
          <a:bodyPr wrap="square" lIns="0" tIns="0" rIns="0" bIns="0" rtlCol="0" anchor="ctr"/>
          <a:lstStyle/>
          <a:p>
            <a:pPr indent="0" marL="0">
              <a:buNone/>
            </a:pPr>
            <a:r>
              <a:rPr lang="en-US" sz="1050" dirty="0">
                <a:solidFill>
                  <a:srgbClr val="5C6B7A"/>
                </a:solidFill>
                <a:latin typeface="Calibri" pitchFamily="34" charset="0"/>
                <a:ea typeface="Calibri" pitchFamily="34" charset="-122"/>
                <a:cs typeface="Calibri" pitchFamily="34" charset="-120"/>
              </a:rPr>
              <a:t>Network Address</a:t>
            </a:r>
            <a:endParaRPr lang="en-US" sz="1050" dirty="0"/>
          </a:p>
        </p:txBody>
      </p:sp>
      <p:sp>
        <p:nvSpPr>
          <p:cNvPr id="26" name="Text 21"/>
          <p:cNvSpPr/>
          <p:nvPr/>
        </p:nvSpPr>
        <p:spPr>
          <a:xfrm>
            <a:off x="8366760" y="3017520"/>
            <a:ext cx="3063240" cy="365760"/>
          </a:xfrm>
          <a:prstGeom prst="rect">
            <a:avLst/>
          </a:prstGeom>
          <a:noFill/>
          <a:ln/>
        </p:spPr>
        <p:txBody>
          <a:bodyPr wrap="square" lIns="0" tIns="0" rIns="0" bIns="0" rtlCol="0" anchor="ctr"/>
          <a:lstStyle/>
          <a:p>
            <a:pPr indent="0" marL="0">
              <a:buNone/>
            </a:pPr>
            <a:r>
              <a:rPr lang="en-US" sz="1700" b="1" dirty="0">
                <a:solidFill>
                  <a:srgbClr val="1C7293"/>
                </a:solidFill>
                <a:latin typeface="Courier New" pitchFamily="34" charset="0"/>
                <a:ea typeface="Courier New" pitchFamily="34" charset="-122"/>
                <a:cs typeface="Courier New" pitchFamily="34" charset="-120"/>
              </a:rPr>
              <a:t>192.168.3.0 /24</a:t>
            </a:r>
            <a:endParaRPr lang="en-US" sz="1700" dirty="0"/>
          </a:p>
        </p:txBody>
      </p:sp>
      <p:sp>
        <p:nvSpPr>
          <p:cNvPr id="27" name="Text 22"/>
          <p:cNvSpPr/>
          <p:nvPr/>
        </p:nvSpPr>
        <p:spPr>
          <a:xfrm>
            <a:off x="8366760" y="3410712"/>
            <a:ext cx="3063240" cy="274320"/>
          </a:xfrm>
          <a:prstGeom prst="rect">
            <a:avLst/>
          </a:prstGeom>
          <a:noFill/>
          <a:ln/>
        </p:spPr>
        <p:txBody>
          <a:bodyPr wrap="square" lIns="0" tIns="0" rIns="0" bIns="0" rtlCol="0" anchor="ctr"/>
          <a:lstStyle/>
          <a:p>
            <a:pPr indent="0" marL="0">
              <a:buNone/>
            </a:pPr>
            <a:r>
              <a:rPr lang="en-US" sz="1000" dirty="0">
                <a:solidFill>
                  <a:srgbClr val="5C6B7A"/>
                </a:solidFill>
                <a:latin typeface="Courier New" pitchFamily="34" charset="0"/>
                <a:ea typeface="Courier New" pitchFamily="34" charset="-122"/>
                <a:cs typeface="Courier New" pitchFamily="34" charset="-120"/>
              </a:rPr>
              <a:t>192.168.3.1 – 192.168.3.254</a:t>
            </a:r>
            <a:endParaRPr lang="en-US" sz="1000" dirty="0"/>
          </a:p>
        </p:txBody>
      </p:sp>
      <p:sp>
        <p:nvSpPr>
          <p:cNvPr id="28" name="Shape 23"/>
          <p:cNvSpPr/>
          <p:nvPr/>
        </p:nvSpPr>
        <p:spPr>
          <a:xfrm>
            <a:off x="548640" y="3977640"/>
            <a:ext cx="11064240" cy="1965960"/>
          </a:xfrm>
          <a:prstGeom prst="roundRect">
            <a:avLst>
              <a:gd name="adj" fmla="val 4186"/>
            </a:avLst>
          </a:prstGeom>
          <a:solidFill>
            <a:srgbClr val="EEF6F8"/>
          </a:solidFill>
          <a:ln/>
        </p:spPr>
      </p:sp>
      <p:sp>
        <p:nvSpPr>
          <p:cNvPr id="29" name="Text 24"/>
          <p:cNvSpPr/>
          <p:nvPr/>
        </p:nvSpPr>
        <p:spPr>
          <a:xfrm>
            <a:off x="822960" y="4114800"/>
            <a:ext cx="548640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Purpose of Subnetting</a:t>
            </a:r>
            <a:endParaRPr lang="en-US" sz="1500" dirty="0"/>
          </a:p>
        </p:txBody>
      </p:sp>
      <p:sp>
        <p:nvSpPr>
          <p:cNvPr id="30" name="Text 25"/>
          <p:cNvSpPr/>
          <p:nvPr/>
        </p:nvSpPr>
        <p:spPr>
          <a:xfrm>
            <a:off x="822960" y="4526280"/>
            <a:ext cx="10515600" cy="132588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Divides one large network into smaller, manageable sub-networks</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Reduces broadcast traffic and improves overall network performance</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Isolates departments so a problem in one does not affect others</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Makes it easier to apply security rules (ACLs) per department</a:t>
            </a:r>
            <a:endParaRPr lang="en-US" sz="1300" dirty="0"/>
          </a:p>
        </p:txBody>
      </p:sp>
      <p:sp>
        <p:nvSpPr>
          <p:cNvPr id="31" name="Text 26"/>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Secure Campus Network Design</a:t>
            </a:r>
            <a:endParaRPr lang="en-US" sz="900" dirty="0"/>
          </a:p>
        </p:txBody>
      </p:sp>
      <p:sp>
        <p:nvSpPr>
          <p:cNvPr id="32" name="Text 27"/>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64008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VLAN Configuration</a:t>
            </a:r>
            <a:endParaRPr lang="en-US" sz="32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Logical segmentation of the physical network</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577840" cy="914400"/>
        </p:xfrm>
        <a:graphic>
          <a:graphicData uri="http://schemas.openxmlformats.org/drawingml/2006/table">
            <a:tbl>
              <a:tblPr/>
              <a:tblGrid>
                <a:gridCol w="1554480"/>
                <a:gridCol w="2011680"/>
                <a:gridCol w="201168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VLAN ID</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Department</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Subnet</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21295C"/>
                    </a:solidFill>
                  </a:tcPr>
                </a:tc>
              </a:tr>
              <a:tr h="502920">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VLAN 10</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Admin</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c>
                  <a:txBody>
                    <a:bodyPr/>
                    <a:lstStyle/>
                    <a:p>
                      <a:pPr algn="ctr" indent="0" marL="0">
                        <a:buNone/>
                      </a:pPr>
                      <a:r>
                        <a:rPr lang="en-US" sz="1300" dirty="0">
                          <a:solidFill>
                            <a:srgbClr val="1E293B"/>
                          </a:solidFill>
                          <a:latin typeface="Courier New" pitchFamily="34" charset="0"/>
                          <a:ea typeface="Courier New" pitchFamily="34" charset="-122"/>
                          <a:cs typeface="Courier New" pitchFamily="34" charset="-120"/>
                        </a:rPr>
                        <a:t>192.168.1.0/24</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r>
              <a:tr h="502920">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VLAN 20</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Academic</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c>
                  <a:txBody>
                    <a:bodyPr/>
                    <a:lstStyle/>
                    <a:p>
                      <a:pPr algn="ctr" indent="0" marL="0">
                        <a:buNone/>
                      </a:pPr>
                      <a:r>
                        <a:rPr lang="en-US" sz="1300" dirty="0">
                          <a:solidFill>
                            <a:srgbClr val="1E293B"/>
                          </a:solidFill>
                          <a:latin typeface="Courier New" pitchFamily="34" charset="0"/>
                          <a:ea typeface="Courier New" pitchFamily="34" charset="-122"/>
                          <a:cs typeface="Courier New" pitchFamily="34" charset="-120"/>
                        </a:rPr>
                        <a:t>192.168.2.0/24</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r>
              <a:tr h="502920">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VLAN 30</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Hostel</a:t>
                      </a:r>
                      <a:endParaRPr lang="en-US" sz="1300" dirty="0">
                        <a:latin typeface="Calibri" charset="0"/>
                        <a:ea typeface="Calibri" charset="0"/>
                        <a:cs typeface="Calibri"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c>
                  <a:txBody>
                    <a:bodyPr/>
                    <a:lstStyle/>
                    <a:p>
                      <a:pPr algn="ctr" indent="0" marL="0">
                        <a:buNone/>
                      </a:pPr>
                      <a:r>
                        <a:rPr lang="en-US" sz="1300" dirty="0">
                          <a:solidFill>
                            <a:srgbClr val="1E293B"/>
                          </a:solidFill>
                          <a:latin typeface="Courier New" pitchFamily="34" charset="0"/>
                          <a:ea typeface="Courier New" pitchFamily="34" charset="-122"/>
                          <a:cs typeface="Courier New" pitchFamily="34" charset="-120"/>
                        </a:rPr>
                        <a:t>192.168.3.0/24</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D6E3E8"/>
                      </a:solidFill>
                      <a:prstDash val="solid"/>
                      <a:round/>
                      <a:headEnd type="none" w="med" len="med"/>
                      <a:tailEnd type="none" w="med" len="med"/>
                    </a:lnL>
                    <a:lnR w="9525" cap="flat" cmpd="sng" algn="ctr">
                      <a:solidFill>
                        <a:srgbClr val="D6E3E8"/>
                      </a:solidFill>
                      <a:prstDash val="solid"/>
                      <a:round/>
                      <a:headEnd type="none" w="med" len="med"/>
                      <a:tailEnd type="none" w="med" len="med"/>
                    </a:lnR>
                    <a:lnT w="9525" cap="flat" cmpd="sng" algn="ctr">
                      <a:solidFill>
                        <a:srgbClr val="D6E3E8"/>
                      </a:solidFill>
                      <a:prstDash val="solid"/>
                      <a:round/>
                      <a:headEnd type="none" w="med" len="med"/>
                      <a:tailEnd type="none" w="med" len="med"/>
                    </a:lnT>
                    <a:lnB w="9525" cap="flat" cmpd="sng" algn="ctr">
                      <a:solidFill>
                        <a:srgbClr val="D6E3E8"/>
                      </a:solidFill>
                      <a:prstDash val="solid"/>
                      <a:round/>
                      <a:headEnd type="none" w="med" len="med"/>
                      <a:tailEnd type="none" w="med" len="med"/>
                    </a:lnB>
                    <a:solidFill>
                      <a:srgbClr val="F4F9FA"/>
                    </a:solidFill>
                  </a:tcPr>
                </a:tc>
              </a:tr>
            </a:tbl>
          </a:graphicData>
        </a:graphic>
      </p:graphicFrame>
      <p:sp>
        <p:nvSpPr>
          <p:cNvPr id="5" name="Shape 2"/>
          <p:cNvSpPr/>
          <p:nvPr/>
        </p:nvSpPr>
        <p:spPr>
          <a:xfrm>
            <a:off x="548640" y="3703320"/>
            <a:ext cx="5577840" cy="1737360"/>
          </a:xfrm>
          <a:prstGeom prst="roundRect">
            <a:avLst>
              <a:gd name="adj" fmla="val 4211"/>
            </a:avLst>
          </a:prstGeom>
          <a:solidFill>
            <a:srgbClr val="0F1B33"/>
          </a:solidFill>
          <a:ln/>
          <a:effectLst>
            <a:outerShdw sx="100000" sy="100000" kx="0" ky="0" algn="bl" rotWithShape="0" blurRad="101600" dist="38100" dir="2700000">
              <a:srgbClr val="000000">
                <a:alpha val="12000"/>
              </a:srgbClr>
            </a:outerShdw>
          </a:effectLst>
        </p:spPr>
      </p:sp>
      <p:sp>
        <p:nvSpPr>
          <p:cNvPr id="6" name="Text 3"/>
          <p:cNvSpPr/>
          <p:nvPr/>
        </p:nvSpPr>
        <p:spPr>
          <a:xfrm>
            <a:off x="777240" y="3794760"/>
            <a:ext cx="5120640" cy="320040"/>
          </a:xfrm>
          <a:prstGeom prst="rect">
            <a:avLst/>
          </a:prstGeom>
          <a:noFill/>
          <a:ln/>
        </p:spPr>
        <p:txBody>
          <a:bodyPr wrap="square" lIns="0" tIns="0" rIns="0" bIns="0" rtlCol="0" anchor="ctr"/>
          <a:lstStyle/>
          <a:p>
            <a:pPr indent="0" marL="0">
              <a:buNone/>
            </a:pPr>
            <a:r>
              <a:rPr lang="en-US" sz="1150" b="1" dirty="0">
                <a:solidFill>
                  <a:srgbClr val="5EEAD4"/>
                </a:solidFill>
                <a:latin typeface="Calibri" pitchFamily="34" charset="0"/>
                <a:ea typeface="Calibri" pitchFamily="34" charset="-122"/>
                <a:cs typeface="Calibri" pitchFamily="34" charset="-120"/>
              </a:rPr>
              <a:t>Switch Configuration Example</a:t>
            </a:r>
            <a:endParaRPr lang="en-US" sz="1150" dirty="0"/>
          </a:p>
        </p:txBody>
      </p:sp>
      <p:sp>
        <p:nvSpPr>
          <p:cNvPr id="7" name="Text 4"/>
          <p:cNvSpPr/>
          <p:nvPr/>
        </p:nvSpPr>
        <p:spPr>
          <a:xfrm>
            <a:off x="777240" y="4114800"/>
            <a:ext cx="5120640" cy="1234440"/>
          </a:xfrm>
          <a:prstGeom prst="rect">
            <a:avLst/>
          </a:prstGeom>
          <a:noFill/>
          <a:ln/>
        </p:spPr>
        <p:txBody>
          <a:bodyPr wrap="square" lIns="0" tIns="0" rIns="0" bIns="0" rtlCol="0" anchor="ctr"/>
          <a:lstStyle/>
          <a:p>
            <a:pPr indent="0" marL="0">
              <a:lnSpc>
                <a:spcPct val="105000"/>
              </a:lnSpc>
              <a:buNone/>
            </a:pPr>
            <a:r>
              <a:rPr lang="en-US" sz="1100" dirty="0">
                <a:solidFill>
                  <a:srgbClr val="D7F5EA"/>
                </a:solidFill>
                <a:latin typeface="Courier New" pitchFamily="34" charset="0"/>
                <a:ea typeface="Courier New" pitchFamily="34" charset="-122"/>
                <a:cs typeface="Courier New" pitchFamily="34" charset="-120"/>
              </a:rPr>
              <a:t>vlan 10</a:t>
            </a:r>
            <a:endParaRPr lang="en-US" sz="1100" dirty="0"/>
          </a:p>
          <a:p>
            <a:pPr indent="0" marL="0">
              <a:lnSpc>
                <a:spcPct val="105000"/>
              </a:lnSpc>
              <a:buNone/>
            </a:pPr>
            <a:r>
              <a:rPr lang="en-US" sz="1100" dirty="0">
                <a:solidFill>
                  <a:srgbClr val="D7F5EA"/>
                </a:solidFill>
                <a:latin typeface="Courier New" pitchFamily="34" charset="0"/>
                <a:ea typeface="Courier New" pitchFamily="34" charset="-122"/>
                <a:cs typeface="Courier New" pitchFamily="34" charset="-120"/>
              </a:rPr>
              <a:t> name Admin</a:t>
            </a:r>
            <a:endParaRPr lang="en-US" sz="1100" dirty="0"/>
          </a:p>
          <a:p>
            <a:pPr indent="0" marL="0">
              <a:lnSpc>
                <a:spcPct val="105000"/>
              </a:lnSpc>
              <a:buNone/>
            </a:pPr>
            <a:r>
              <a:rPr lang="en-US" sz="1100" dirty="0">
                <a:solidFill>
                  <a:srgbClr val="D7F5EA"/>
                </a:solidFill>
                <a:latin typeface="Courier New" pitchFamily="34" charset="0"/>
                <a:ea typeface="Courier New" pitchFamily="34" charset="-122"/>
                <a:cs typeface="Courier New" pitchFamily="34" charset="-120"/>
              </a:rPr>
              <a:t>vlan 20</a:t>
            </a:r>
            <a:endParaRPr lang="en-US" sz="1100" dirty="0"/>
          </a:p>
          <a:p>
            <a:pPr indent="0" marL="0">
              <a:lnSpc>
                <a:spcPct val="105000"/>
              </a:lnSpc>
              <a:buNone/>
            </a:pPr>
            <a:r>
              <a:rPr lang="en-US" sz="1100" dirty="0">
                <a:solidFill>
                  <a:srgbClr val="D7F5EA"/>
                </a:solidFill>
                <a:latin typeface="Courier New" pitchFamily="34" charset="0"/>
                <a:ea typeface="Courier New" pitchFamily="34" charset="-122"/>
                <a:cs typeface="Courier New" pitchFamily="34" charset="-120"/>
              </a:rPr>
              <a:t> name Academic</a:t>
            </a:r>
            <a:endParaRPr lang="en-US" sz="1100" dirty="0"/>
          </a:p>
          <a:p>
            <a:pPr indent="0" marL="0">
              <a:lnSpc>
                <a:spcPct val="105000"/>
              </a:lnSpc>
              <a:buNone/>
            </a:pPr>
            <a:r>
              <a:rPr lang="en-US" sz="1100" dirty="0">
                <a:solidFill>
                  <a:srgbClr val="D7F5EA"/>
                </a:solidFill>
                <a:latin typeface="Courier New" pitchFamily="34" charset="0"/>
                <a:ea typeface="Courier New" pitchFamily="34" charset="-122"/>
                <a:cs typeface="Courier New" pitchFamily="34" charset="-120"/>
              </a:rPr>
              <a:t>vlan 30</a:t>
            </a:r>
            <a:endParaRPr lang="en-US" sz="1100" dirty="0"/>
          </a:p>
          <a:p>
            <a:pPr indent="0" marL="0">
              <a:lnSpc>
                <a:spcPct val="105000"/>
              </a:lnSpc>
              <a:buNone/>
            </a:pPr>
            <a:r>
              <a:rPr lang="en-US" sz="1100" dirty="0">
                <a:solidFill>
                  <a:srgbClr val="D7F5EA"/>
                </a:solidFill>
                <a:latin typeface="Courier New" pitchFamily="34" charset="0"/>
                <a:ea typeface="Courier New" pitchFamily="34" charset="-122"/>
                <a:cs typeface="Courier New" pitchFamily="34" charset="-120"/>
              </a:rPr>
              <a:t> name Hostel</a:t>
            </a:r>
            <a:endParaRPr lang="en-US" sz="1100" dirty="0"/>
          </a:p>
          <a:p>
            <a:pPr indent="0" marL="0">
              <a:lnSpc>
                <a:spcPct val="105000"/>
              </a:lnSpc>
              <a:buNone/>
            </a:pPr>
            <a:r>
              <a:rPr lang="en-US" sz="1100" dirty="0">
                <a:solidFill>
                  <a:srgbClr val="D7F5EA"/>
                </a:solidFill>
                <a:latin typeface="Courier New" pitchFamily="34" charset="0"/>
                <a:ea typeface="Courier New" pitchFamily="34" charset="-122"/>
                <a:cs typeface="Courier New" pitchFamily="34" charset="-120"/>
              </a:rPr>
              <a:t>interface fa0/1</a:t>
            </a:r>
            <a:endParaRPr lang="en-US" sz="1100" dirty="0"/>
          </a:p>
          <a:p>
            <a:pPr indent="0" marL="0">
              <a:lnSpc>
                <a:spcPct val="105000"/>
              </a:lnSpc>
              <a:buNone/>
            </a:pPr>
            <a:r>
              <a:rPr lang="en-US" sz="1100" dirty="0">
                <a:solidFill>
                  <a:srgbClr val="D7F5EA"/>
                </a:solidFill>
                <a:latin typeface="Courier New" pitchFamily="34" charset="0"/>
                <a:ea typeface="Courier New" pitchFamily="34" charset="-122"/>
                <a:cs typeface="Courier New" pitchFamily="34" charset="-120"/>
              </a:rPr>
              <a:t> switchport access vlan 10</a:t>
            </a:r>
            <a:endParaRPr lang="en-US" sz="1100" dirty="0"/>
          </a:p>
        </p:txBody>
      </p:sp>
      <p:sp>
        <p:nvSpPr>
          <p:cNvPr id="8" name="Shape 5"/>
          <p:cNvSpPr/>
          <p:nvPr/>
        </p:nvSpPr>
        <p:spPr>
          <a:xfrm>
            <a:off x="6400800" y="1554480"/>
            <a:ext cx="5212080" cy="3886200"/>
          </a:xfrm>
          <a:prstGeom prst="roundRect">
            <a:avLst>
              <a:gd name="adj" fmla="val 2118"/>
            </a:avLst>
          </a:prstGeom>
          <a:solidFill>
            <a:srgbClr val="EEF6F8"/>
          </a:solidFill>
          <a:ln/>
        </p:spPr>
      </p:sp>
      <p:sp>
        <p:nvSpPr>
          <p:cNvPr id="9" name="Shape 6"/>
          <p:cNvSpPr/>
          <p:nvPr/>
        </p:nvSpPr>
        <p:spPr>
          <a:xfrm>
            <a:off x="6675120" y="1810512"/>
            <a:ext cx="594360" cy="594360"/>
          </a:xfrm>
          <a:prstGeom prst="ellipse">
            <a:avLst/>
          </a:prstGeom>
          <a:solidFill>
            <a:srgbClr val="1C7293"/>
          </a:solidFill>
          <a:ln/>
        </p:spPr>
      </p:sp>
      <p:pic>
        <p:nvPicPr>
          <p:cNvPr id="10" name="Image 0" descr="preencoded.png">    </p:cNvPr>
          <p:cNvPicPr>
            <a:picLocks noChangeAspect="1"/>
          </p:cNvPicPr>
          <p:nvPr/>
        </p:nvPicPr>
        <p:blipFill>
          <a:blip r:embed="rId1"/>
          <a:stretch>
            <a:fillRect/>
          </a:stretch>
        </p:blipFill>
        <p:spPr>
          <a:xfrm>
            <a:off x="6812280" y="1947672"/>
            <a:ext cx="320040" cy="320040"/>
          </a:xfrm>
          <a:prstGeom prst="rect">
            <a:avLst/>
          </a:prstGeom>
        </p:spPr>
      </p:pic>
      <p:sp>
        <p:nvSpPr>
          <p:cNvPr id="11" name="Text 7"/>
          <p:cNvSpPr/>
          <p:nvPr/>
        </p:nvSpPr>
        <p:spPr>
          <a:xfrm>
            <a:off x="7406640" y="1874520"/>
            <a:ext cx="4023360" cy="45720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Why Use VLANs?</a:t>
            </a:r>
            <a:endParaRPr lang="en-US" sz="1700" dirty="0"/>
          </a:p>
        </p:txBody>
      </p:sp>
      <p:sp>
        <p:nvSpPr>
          <p:cNvPr id="12" name="Text 8"/>
          <p:cNvSpPr/>
          <p:nvPr/>
        </p:nvSpPr>
        <p:spPr>
          <a:xfrm>
            <a:off x="6675120" y="2606040"/>
            <a:ext cx="4709160" cy="2697480"/>
          </a:xfrm>
          <a:prstGeom prst="rect">
            <a:avLst/>
          </a:prstGeom>
          <a:noFill/>
          <a:ln/>
        </p:spPr>
        <p:txBody>
          <a:bodyPr wrap="square" lIns="0" tIns="0" rIns="0" bIns="0" rtlCol="0" anchor="ctr"/>
          <a:lstStyle/>
          <a:p>
            <a:pPr indent="0" marL="0">
              <a:lnSpc>
                <a:spcPct val="115000"/>
              </a:lnSpc>
              <a:buNone/>
            </a:pPr>
            <a:r>
              <a:rPr lang="en-US" sz="1300" b="1" dirty="0">
                <a:solidFill>
                  <a:srgbClr val="065A82"/>
                </a:solidFill>
                <a:latin typeface="Calibri" pitchFamily="34" charset="0"/>
                <a:ea typeface="Calibri" pitchFamily="34" charset="-122"/>
                <a:cs typeface="Calibri" pitchFamily="34" charset="-120"/>
              </a:rPr>
              <a:t>Segmentation</a:t>
            </a:r>
            <a:endParaRPr lang="en-US" sz="1300" dirty="0"/>
          </a:p>
          <a:p>
            <a:pPr indent="0" marL="0">
              <a:lnSpc>
                <a:spcPct val="115000"/>
              </a:lnSpc>
              <a:buNone/>
            </a:pPr>
            <a:r>
              <a:rPr lang="en-US" sz="1300" dirty="0">
                <a:solidFill>
                  <a:srgbClr val="1E293B"/>
                </a:solidFill>
                <a:latin typeface="Calibri" pitchFamily="34" charset="0"/>
                <a:ea typeface="Calibri" pitchFamily="34" charset="-122"/>
                <a:cs typeface="Calibri" pitchFamily="34" charset="-120"/>
              </a:rPr>
              <a:t>Separates broadcast domains for Admin, Academic, and Hostel even on shared switches</a:t>
            </a:r>
            <a:endParaRPr lang="en-US" sz="1300" dirty="0"/>
          </a:p>
          <a:p>
            <a:pPr indent="0" marL="0">
              <a:lnSpc>
                <a:spcPct val="115000"/>
              </a:lnSpc>
              <a:buNone/>
            </a:pPr>
            <a:r>
              <a:rPr lang="en-US" sz="600" dirty="0">
                <a:solidFill>
                  <a:srgbClr val="1E293B"/>
                </a:solidFill>
                <a:latin typeface="Calibri" pitchFamily="34" charset="0"/>
                <a:ea typeface="Calibri" pitchFamily="34" charset="-122"/>
                <a:cs typeface="Calibri" pitchFamily="34" charset="-120"/>
              </a:rPr>
              <a:t> </a:t>
            </a:r>
            <a:endParaRPr lang="en-US" sz="1300" dirty="0"/>
          </a:p>
          <a:p>
            <a:pPr indent="0" marL="0">
              <a:lnSpc>
                <a:spcPct val="115000"/>
              </a:lnSpc>
              <a:buNone/>
            </a:pPr>
            <a:r>
              <a:rPr lang="en-US" sz="1300" b="1" dirty="0">
                <a:solidFill>
                  <a:srgbClr val="065A82"/>
                </a:solidFill>
                <a:latin typeface="Calibri" pitchFamily="34" charset="0"/>
                <a:ea typeface="Calibri" pitchFamily="34" charset="-122"/>
                <a:cs typeface="Calibri" pitchFamily="34" charset="-120"/>
              </a:rPr>
              <a:t>Security</a:t>
            </a:r>
            <a:endParaRPr lang="en-US" sz="1300" dirty="0"/>
          </a:p>
          <a:p>
            <a:pPr indent="0" marL="0">
              <a:lnSpc>
                <a:spcPct val="115000"/>
              </a:lnSpc>
              <a:buNone/>
            </a:pPr>
            <a:r>
              <a:rPr lang="en-US" sz="1300" dirty="0">
                <a:solidFill>
                  <a:srgbClr val="1E293B"/>
                </a:solidFill>
                <a:latin typeface="Calibri" pitchFamily="34" charset="0"/>
                <a:ea typeface="Calibri" pitchFamily="34" charset="-122"/>
                <a:cs typeface="Calibri" pitchFamily="34" charset="-120"/>
              </a:rPr>
              <a:t>Users in one VLAN cannot directly see traffic from another VLAN</a:t>
            </a:r>
            <a:endParaRPr lang="en-US" sz="1300" dirty="0"/>
          </a:p>
          <a:p>
            <a:pPr indent="0" marL="0">
              <a:lnSpc>
                <a:spcPct val="115000"/>
              </a:lnSpc>
              <a:buNone/>
            </a:pPr>
            <a:r>
              <a:rPr lang="en-US" sz="600" dirty="0">
                <a:solidFill>
                  <a:srgbClr val="1E293B"/>
                </a:solidFill>
                <a:latin typeface="Calibri" pitchFamily="34" charset="0"/>
                <a:ea typeface="Calibri" pitchFamily="34" charset="-122"/>
                <a:cs typeface="Calibri" pitchFamily="34" charset="-120"/>
              </a:rPr>
              <a:t> </a:t>
            </a:r>
            <a:endParaRPr lang="en-US" sz="1300" dirty="0"/>
          </a:p>
          <a:p>
            <a:pPr indent="0" marL="0">
              <a:lnSpc>
                <a:spcPct val="115000"/>
              </a:lnSpc>
              <a:buNone/>
            </a:pPr>
            <a:r>
              <a:rPr lang="en-US" sz="1300" b="1" dirty="0">
                <a:solidFill>
                  <a:srgbClr val="065A82"/>
                </a:solidFill>
                <a:latin typeface="Calibri" pitchFamily="34" charset="0"/>
                <a:ea typeface="Calibri" pitchFamily="34" charset="-122"/>
                <a:cs typeface="Calibri" pitchFamily="34" charset="-120"/>
              </a:rPr>
              <a:t>Flexibility</a:t>
            </a:r>
            <a:endParaRPr lang="en-US" sz="1300" dirty="0"/>
          </a:p>
          <a:p>
            <a:pPr indent="0" marL="0">
              <a:lnSpc>
                <a:spcPct val="115000"/>
              </a:lnSpc>
              <a:buNone/>
            </a:pPr>
            <a:r>
              <a:rPr lang="en-US" sz="1300" dirty="0">
                <a:solidFill>
                  <a:srgbClr val="1E293B"/>
                </a:solidFill>
                <a:latin typeface="Calibri" pitchFamily="34" charset="0"/>
                <a:ea typeface="Calibri" pitchFamily="34" charset="-122"/>
                <a:cs typeface="Calibri" pitchFamily="34" charset="-120"/>
              </a:rPr>
              <a:t>Devices can be grouped logically, regardless of their physical location</a:t>
            </a:r>
            <a:endParaRPr lang="en-US" sz="1300" dirty="0"/>
          </a:p>
        </p:txBody>
      </p:sp>
      <p:sp>
        <p:nvSpPr>
          <p:cNvPr id="13" name="Text 9"/>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Secure Campus Network Design</a:t>
            </a:r>
            <a:endParaRPr lang="en-US" sz="900" dirty="0"/>
          </a:p>
        </p:txBody>
      </p:sp>
      <p:sp>
        <p:nvSpPr>
          <p:cNvPr id="14" name="Text 1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64008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Routing and Testing</a:t>
            </a:r>
            <a:endParaRPr lang="en-US" sz="32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Connecting departments and verifying communication</a:t>
            </a:r>
            <a:endParaRPr lang="en-US" sz="1400" dirty="0"/>
          </a:p>
        </p:txBody>
      </p:sp>
      <p:sp>
        <p:nvSpPr>
          <p:cNvPr id="4" name="Shape 2"/>
          <p:cNvSpPr/>
          <p:nvPr/>
        </p:nvSpPr>
        <p:spPr>
          <a:xfrm>
            <a:off x="548640" y="1691640"/>
            <a:ext cx="457200" cy="457200"/>
          </a:xfrm>
          <a:prstGeom prst="ellipse">
            <a:avLst/>
          </a:prstGeom>
          <a:solidFill>
            <a:srgbClr val="065A82"/>
          </a:solidFill>
          <a:ln/>
        </p:spPr>
      </p:sp>
      <p:sp>
        <p:nvSpPr>
          <p:cNvPr id="5" name="Text 3"/>
          <p:cNvSpPr/>
          <p:nvPr/>
        </p:nvSpPr>
        <p:spPr>
          <a:xfrm>
            <a:off x="5486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645920"/>
            <a:ext cx="484632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Router Connects All Networks</a:t>
            </a:r>
            <a:endParaRPr lang="en-US" sz="1500" dirty="0"/>
          </a:p>
        </p:txBody>
      </p:sp>
      <p:sp>
        <p:nvSpPr>
          <p:cNvPr id="7" name="Text 5"/>
          <p:cNvSpPr/>
          <p:nvPr/>
        </p:nvSpPr>
        <p:spPr>
          <a:xfrm>
            <a:off x="1188720" y="2011680"/>
            <a:ext cx="4846320" cy="5029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 single router performs inter-VLAN routing between Admin, Academic, and Hostel</a:t>
            </a:r>
            <a:endParaRPr lang="en-US" sz="1200" dirty="0"/>
          </a:p>
        </p:txBody>
      </p:sp>
      <p:sp>
        <p:nvSpPr>
          <p:cNvPr id="8" name="Shape 6"/>
          <p:cNvSpPr/>
          <p:nvPr/>
        </p:nvSpPr>
        <p:spPr>
          <a:xfrm>
            <a:off x="548640" y="2651760"/>
            <a:ext cx="457200" cy="457200"/>
          </a:xfrm>
          <a:prstGeom prst="ellipse">
            <a:avLst/>
          </a:prstGeom>
          <a:solidFill>
            <a:srgbClr val="065A82"/>
          </a:solidFill>
          <a:ln/>
        </p:spPr>
      </p:sp>
      <p:sp>
        <p:nvSpPr>
          <p:cNvPr id="9" name="Text 7"/>
          <p:cNvSpPr/>
          <p:nvPr/>
        </p:nvSpPr>
        <p:spPr>
          <a:xfrm>
            <a:off x="548640"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88720" y="2606040"/>
            <a:ext cx="484632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Inter-Network Communication</a:t>
            </a:r>
            <a:endParaRPr lang="en-US" sz="1500" dirty="0"/>
          </a:p>
        </p:txBody>
      </p:sp>
      <p:sp>
        <p:nvSpPr>
          <p:cNvPr id="11" name="Text 9"/>
          <p:cNvSpPr/>
          <p:nvPr/>
        </p:nvSpPr>
        <p:spPr>
          <a:xfrm>
            <a:off x="1188720" y="2971800"/>
            <a:ext cx="4846320" cy="5029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Devices in different subnets can reach each other through the router</a:t>
            </a:r>
            <a:endParaRPr lang="en-US" sz="1200" dirty="0"/>
          </a:p>
        </p:txBody>
      </p:sp>
      <p:sp>
        <p:nvSpPr>
          <p:cNvPr id="12" name="Shape 10"/>
          <p:cNvSpPr/>
          <p:nvPr/>
        </p:nvSpPr>
        <p:spPr>
          <a:xfrm>
            <a:off x="548640" y="3611880"/>
            <a:ext cx="457200" cy="457200"/>
          </a:xfrm>
          <a:prstGeom prst="ellipse">
            <a:avLst/>
          </a:prstGeom>
          <a:solidFill>
            <a:srgbClr val="065A82"/>
          </a:solidFill>
          <a:ln/>
        </p:spPr>
      </p:sp>
      <p:sp>
        <p:nvSpPr>
          <p:cNvPr id="13" name="Text 11"/>
          <p:cNvSpPr/>
          <p:nvPr/>
        </p:nvSpPr>
        <p:spPr>
          <a:xfrm>
            <a:off x="54864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188720" y="3566160"/>
            <a:ext cx="484632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Testing with Ping (ICMP)</a:t>
            </a:r>
            <a:endParaRPr lang="en-US" sz="1500" dirty="0"/>
          </a:p>
        </p:txBody>
      </p:sp>
      <p:sp>
        <p:nvSpPr>
          <p:cNvPr id="15" name="Text 13"/>
          <p:cNvSpPr/>
          <p:nvPr/>
        </p:nvSpPr>
        <p:spPr>
          <a:xfrm>
            <a:off x="1188720" y="3931920"/>
            <a:ext cx="4846320" cy="5029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ping 192.168.2.1 is used from each subnet to check reachability</a:t>
            </a:r>
            <a:endParaRPr lang="en-US" sz="1200" dirty="0"/>
          </a:p>
        </p:txBody>
      </p:sp>
      <p:sp>
        <p:nvSpPr>
          <p:cNvPr id="16" name="Shape 14"/>
          <p:cNvSpPr/>
          <p:nvPr/>
        </p:nvSpPr>
        <p:spPr>
          <a:xfrm>
            <a:off x="548640" y="4709160"/>
            <a:ext cx="5486400" cy="1280160"/>
          </a:xfrm>
          <a:prstGeom prst="roundRect">
            <a:avLst>
              <a:gd name="adj" fmla="val 5714"/>
            </a:avLst>
          </a:prstGeom>
          <a:solidFill>
            <a:srgbClr val="FFF6E9"/>
          </a:solidFill>
          <a:ln/>
          <a:effectLst>
            <a:outerShdw sx="100000" sy="100000" kx="0" ky="0" algn="bl" rotWithShape="0" blurRad="101600" dist="38100" dir="2700000">
              <a:srgbClr val="000000">
                <a:alpha val="12000"/>
              </a:srgbClr>
            </a:outerShdw>
          </a:effectLst>
        </p:spPr>
      </p:sp>
      <p:sp>
        <p:nvSpPr>
          <p:cNvPr id="17" name="Text 15"/>
          <p:cNvSpPr/>
          <p:nvPr/>
        </p:nvSpPr>
        <p:spPr>
          <a:xfrm>
            <a:off x="777240" y="4828032"/>
            <a:ext cx="5029200" cy="274320"/>
          </a:xfrm>
          <a:prstGeom prst="rect">
            <a:avLst/>
          </a:prstGeom>
          <a:noFill/>
          <a:ln/>
        </p:spPr>
        <p:txBody>
          <a:bodyPr wrap="square" lIns="0" tIns="0" rIns="0" bIns="0"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Observation</a:t>
            </a:r>
            <a:endParaRPr lang="en-US" sz="1300" dirty="0"/>
          </a:p>
        </p:txBody>
      </p:sp>
      <p:sp>
        <p:nvSpPr>
          <p:cNvPr id="18" name="Text 16"/>
          <p:cNvSpPr/>
          <p:nvPr/>
        </p:nvSpPr>
        <p:spPr>
          <a:xfrm>
            <a:off x="777240" y="5120640"/>
            <a:ext cx="5029200" cy="822960"/>
          </a:xfrm>
          <a:prstGeom prst="rect">
            <a:avLst/>
          </a:prstGeom>
          <a:noFill/>
          <a:ln/>
        </p:spPr>
        <p:txBody>
          <a:bodyPr wrap="square" lIns="0" tIns="0" rIns="0" bIns="0" rtlCol="0" anchor="ctr"/>
          <a:lstStyle/>
          <a:p>
            <a:pPr indent="0" marL="0">
              <a:buNone/>
            </a:pPr>
            <a:r>
              <a:rPr lang="en-US" sz="1250" i="1" dirty="0">
                <a:solidFill>
                  <a:srgbClr val="5C4300"/>
                </a:solidFill>
                <a:latin typeface="Calibri" pitchFamily="34" charset="0"/>
                <a:ea typeface="Calibri" pitchFamily="34" charset="-122"/>
                <a:cs typeface="Calibri" pitchFamily="34" charset="-120"/>
              </a:rPr>
              <a:t>Ping tests show partial success — some paths reply normally, while others silently fail due to security rules applied later (ACL).</a:t>
            </a:r>
            <a:endParaRPr lang="en-US" sz="1250" dirty="0"/>
          </a:p>
        </p:txBody>
      </p:sp>
      <p:sp>
        <p:nvSpPr>
          <p:cNvPr id="19" name="Shape 17"/>
          <p:cNvSpPr/>
          <p:nvPr/>
        </p:nvSpPr>
        <p:spPr>
          <a:xfrm>
            <a:off x="6400800" y="1691640"/>
            <a:ext cx="5212080" cy="4297680"/>
          </a:xfrm>
          <a:prstGeom prst="roundRect">
            <a:avLst>
              <a:gd name="adj" fmla="val 1702"/>
            </a:avLst>
          </a:prstGeom>
          <a:solidFill>
            <a:srgbClr val="0F1B33"/>
          </a:solidFill>
          <a:ln/>
          <a:effectLst>
            <a:outerShdw sx="100000" sy="100000" kx="0" ky="0" algn="bl" rotWithShape="0" blurRad="101600" dist="38100" dir="2700000">
              <a:srgbClr val="000000">
                <a:alpha val="12000"/>
              </a:srgbClr>
            </a:outerShdw>
          </a:effectLst>
        </p:spPr>
      </p:sp>
      <p:sp>
        <p:nvSpPr>
          <p:cNvPr id="20" name="Text 18"/>
          <p:cNvSpPr/>
          <p:nvPr/>
        </p:nvSpPr>
        <p:spPr>
          <a:xfrm>
            <a:off x="6675120" y="1828800"/>
            <a:ext cx="4663440" cy="320040"/>
          </a:xfrm>
          <a:prstGeom prst="rect">
            <a:avLst/>
          </a:prstGeom>
          <a:noFill/>
          <a:ln/>
        </p:spPr>
        <p:txBody>
          <a:bodyPr wrap="square" lIns="0" tIns="0" rIns="0" bIns="0" rtlCol="0" anchor="ctr"/>
          <a:lstStyle/>
          <a:p>
            <a:pPr indent="0" marL="0">
              <a:buNone/>
            </a:pPr>
            <a:r>
              <a:rPr lang="en-US" sz="1250" b="1" dirty="0">
                <a:solidFill>
                  <a:srgbClr val="5EEAD4"/>
                </a:solidFill>
                <a:latin typeface="Calibri" pitchFamily="34" charset="0"/>
                <a:ea typeface="Calibri" pitchFamily="34" charset="-122"/>
                <a:cs typeface="Calibri" pitchFamily="34" charset="-120"/>
              </a:rPr>
              <a:t>Ping Test Results</a:t>
            </a:r>
            <a:endParaRPr lang="en-US" sz="1250" dirty="0"/>
          </a:p>
        </p:txBody>
      </p:sp>
      <p:sp>
        <p:nvSpPr>
          <p:cNvPr id="21" name="Text 19"/>
          <p:cNvSpPr/>
          <p:nvPr/>
        </p:nvSpPr>
        <p:spPr>
          <a:xfrm>
            <a:off x="6675120" y="2286000"/>
            <a:ext cx="3566160" cy="274320"/>
          </a:xfrm>
          <a:prstGeom prst="rect">
            <a:avLst/>
          </a:prstGeom>
          <a:noFill/>
          <a:ln/>
        </p:spPr>
        <p:txBody>
          <a:bodyPr wrap="square" lIns="0" tIns="0" rIns="0" bIns="0" rtlCol="0" anchor="ctr"/>
          <a:lstStyle/>
          <a:p>
            <a:pPr indent="0" marL="0">
              <a:buNone/>
            </a:pPr>
            <a:r>
              <a:rPr lang="en-US" sz="1100" dirty="0">
                <a:solidFill>
                  <a:srgbClr val="D7F5EA"/>
                </a:solidFill>
                <a:latin typeface="Courier New" pitchFamily="34" charset="0"/>
                <a:ea typeface="Courier New" pitchFamily="34" charset="-122"/>
                <a:cs typeface="Courier New" pitchFamily="34" charset="-120"/>
              </a:rPr>
              <a:t>ping 192.168.1.1 (Admin)</a:t>
            </a:r>
            <a:endParaRPr lang="en-US" sz="1100" dirty="0"/>
          </a:p>
        </p:txBody>
      </p:sp>
      <p:pic>
        <p:nvPicPr>
          <p:cNvPr id="22" name="Image 0" descr="preencoded.png">    </p:cNvPr>
          <p:cNvPicPr>
            <a:picLocks noChangeAspect="1"/>
          </p:cNvPicPr>
          <p:nvPr/>
        </p:nvPicPr>
        <p:blipFill>
          <a:blip r:embed="rId1"/>
          <a:stretch>
            <a:fillRect/>
          </a:stretch>
        </p:blipFill>
        <p:spPr>
          <a:xfrm>
            <a:off x="10469880" y="2295144"/>
            <a:ext cx="256032" cy="256032"/>
          </a:xfrm>
          <a:prstGeom prst="rect">
            <a:avLst/>
          </a:prstGeom>
        </p:spPr>
      </p:pic>
      <p:sp>
        <p:nvSpPr>
          <p:cNvPr id="23" name="Text 20"/>
          <p:cNvSpPr/>
          <p:nvPr/>
        </p:nvSpPr>
        <p:spPr>
          <a:xfrm>
            <a:off x="6675120" y="2560320"/>
            <a:ext cx="4023360" cy="228600"/>
          </a:xfrm>
          <a:prstGeom prst="rect">
            <a:avLst/>
          </a:prstGeom>
          <a:noFill/>
          <a:ln/>
        </p:spPr>
        <p:txBody>
          <a:bodyPr wrap="square" lIns="0" tIns="0" rIns="0" bIns="0" rtlCol="0" anchor="ctr"/>
          <a:lstStyle/>
          <a:p>
            <a:pPr indent="0" marL="0">
              <a:buNone/>
            </a:pPr>
            <a:r>
              <a:rPr lang="en-US" sz="950" i="1" dirty="0">
                <a:solidFill>
                  <a:srgbClr val="8FA6B8"/>
                </a:solidFill>
                <a:latin typeface="Calibri" pitchFamily="34" charset="0"/>
                <a:ea typeface="Calibri" pitchFamily="34" charset="-122"/>
                <a:cs typeface="Calibri" pitchFamily="34" charset="-120"/>
              </a:rPr>
              <a:t>from Academic PC</a:t>
            </a:r>
            <a:endParaRPr lang="en-US" sz="950" dirty="0"/>
          </a:p>
        </p:txBody>
      </p:sp>
      <p:sp>
        <p:nvSpPr>
          <p:cNvPr id="24" name="Text 21"/>
          <p:cNvSpPr/>
          <p:nvPr/>
        </p:nvSpPr>
        <p:spPr>
          <a:xfrm>
            <a:off x="6675120" y="2999232"/>
            <a:ext cx="3566160" cy="274320"/>
          </a:xfrm>
          <a:prstGeom prst="rect">
            <a:avLst/>
          </a:prstGeom>
          <a:noFill/>
          <a:ln/>
        </p:spPr>
        <p:txBody>
          <a:bodyPr wrap="square" lIns="0" tIns="0" rIns="0" bIns="0" rtlCol="0" anchor="ctr"/>
          <a:lstStyle/>
          <a:p>
            <a:pPr indent="0" marL="0">
              <a:buNone/>
            </a:pPr>
            <a:r>
              <a:rPr lang="en-US" sz="1100" dirty="0">
                <a:solidFill>
                  <a:srgbClr val="D7F5EA"/>
                </a:solidFill>
                <a:latin typeface="Courier New" pitchFamily="34" charset="0"/>
                <a:ea typeface="Courier New" pitchFamily="34" charset="-122"/>
                <a:cs typeface="Courier New" pitchFamily="34" charset="-120"/>
              </a:rPr>
              <a:t>ping 192.168.3.1 (Hostel)</a:t>
            </a:r>
            <a:endParaRPr lang="en-US" sz="1100" dirty="0"/>
          </a:p>
        </p:txBody>
      </p:sp>
      <p:pic>
        <p:nvPicPr>
          <p:cNvPr id="25" name="Image 1" descr="preencoded.png">    </p:cNvPr>
          <p:cNvPicPr>
            <a:picLocks noChangeAspect="1"/>
          </p:cNvPicPr>
          <p:nvPr/>
        </p:nvPicPr>
        <p:blipFill>
          <a:blip r:embed="rId2"/>
          <a:stretch>
            <a:fillRect/>
          </a:stretch>
        </p:blipFill>
        <p:spPr>
          <a:xfrm>
            <a:off x="10469880" y="3008376"/>
            <a:ext cx="256032" cy="256032"/>
          </a:xfrm>
          <a:prstGeom prst="rect">
            <a:avLst/>
          </a:prstGeom>
        </p:spPr>
      </p:pic>
      <p:sp>
        <p:nvSpPr>
          <p:cNvPr id="26" name="Text 22"/>
          <p:cNvSpPr/>
          <p:nvPr/>
        </p:nvSpPr>
        <p:spPr>
          <a:xfrm>
            <a:off x="6675120" y="3273552"/>
            <a:ext cx="4023360" cy="228600"/>
          </a:xfrm>
          <a:prstGeom prst="rect">
            <a:avLst/>
          </a:prstGeom>
          <a:noFill/>
          <a:ln/>
        </p:spPr>
        <p:txBody>
          <a:bodyPr wrap="square" lIns="0" tIns="0" rIns="0" bIns="0" rtlCol="0" anchor="ctr"/>
          <a:lstStyle/>
          <a:p>
            <a:pPr indent="0" marL="0">
              <a:buNone/>
            </a:pPr>
            <a:r>
              <a:rPr lang="en-US" sz="950" i="1" dirty="0">
                <a:solidFill>
                  <a:srgbClr val="8FA6B8"/>
                </a:solidFill>
                <a:latin typeface="Calibri" pitchFamily="34" charset="0"/>
                <a:ea typeface="Calibri" pitchFamily="34" charset="-122"/>
                <a:cs typeface="Calibri" pitchFamily="34" charset="-120"/>
              </a:rPr>
              <a:t>from Academic PC</a:t>
            </a:r>
            <a:endParaRPr lang="en-US" sz="950" dirty="0"/>
          </a:p>
        </p:txBody>
      </p:sp>
      <p:sp>
        <p:nvSpPr>
          <p:cNvPr id="27" name="Text 23"/>
          <p:cNvSpPr/>
          <p:nvPr/>
        </p:nvSpPr>
        <p:spPr>
          <a:xfrm>
            <a:off x="6675120" y="3712464"/>
            <a:ext cx="3566160" cy="274320"/>
          </a:xfrm>
          <a:prstGeom prst="rect">
            <a:avLst/>
          </a:prstGeom>
          <a:noFill/>
          <a:ln/>
        </p:spPr>
        <p:txBody>
          <a:bodyPr wrap="square" lIns="0" tIns="0" rIns="0" bIns="0" rtlCol="0" anchor="ctr"/>
          <a:lstStyle/>
          <a:p>
            <a:pPr indent="0" marL="0">
              <a:buNone/>
            </a:pPr>
            <a:r>
              <a:rPr lang="en-US" sz="1100" dirty="0">
                <a:solidFill>
                  <a:srgbClr val="D7F5EA"/>
                </a:solidFill>
                <a:latin typeface="Courier New" pitchFamily="34" charset="0"/>
                <a:ea typeface="Courier New" pitchFamily="34" charset="-122"/>
                <a:cs typeface="Courier New" pitchFamily="34" charset="-120"/>
              </a:rPr>
              <a:t>ping 192.168.3.1 (Hostel)</a:t>
            </a:r>
            <a:endParaRPr lang="en-US" sz="1100" dirty="0"/>
          </a:p>
        </p:txBody>
      </p:sp>
      <p:pic>
        <p:nvPicPr>
          <p:cNvPr id="28" name="Image 2" descr="preencoded.png">    </p:cNvPr>
          <p:cNvPicPr>
            <a:picLocks noChangeAspect="1"/>
          </p:cNvPicPr>
          <p:nvPr/>
        </p:nvPicPr>
        <p:blipFill>
          <a:blip r:embed="rId3"/>
          <a:stretch>
            <a:fillRect/>
          </a:stretch>
        </p:blipFill>
        <p:spPr>
          <a:xfrm>
            <a:off x="10469880" y="3721608"/>
            <a:ext cx="256032" cy="256032"/>
          </a:xfrm>
          <a:prstGeom prst="rect">
            <a:avLst/>
          </a:prstGeom>
        </p:spPr>
      </p:pic>
      <p:sp>
        <p:nvSpPr>
          <p:cNvPr id="29" name="Text 24"/>
          <p:cNvSpPr/>
          <p:nvPr/>
        </p:nvSpPr>
        <p:spPr>
          <a:xfrm>
            <a:off x="6675120" y="3986784"/>
            <a:ext cx="4023360" cy="228600"/>
          </a:xfrm>
          <a:prstGeom prst="rect">
            <a:avLst/>
          </a:prstGeom>
          <a:noFill/>
          <a:ln/>
        </p:spPr>
        <p:txBody>
          <a:bodyPr wrap="square" lIns="0" tIns="0" rIns="0" bIns="0" rtlCol="0" anchor="ctr"/>
          <a:lstStyle/>
          <a:p>
            <a:pPr indent="0" marL="0">
              <a:buNone/>
            </a:pPr>
            <a:r>
              <a:rPr lang="en-US" sz="950" i="1" dirty="0">
                <a:solidFill>
                  <a:srgbClr val="8FA6B8"/>
                </a:solidFill>
                <a:latin typeface="Calibri" pitchFamily="34" charset="0"/>
                <a:ea typeface="Calibri" pitchFamily="34" charset="-122"/>
                <a:cs typeface="Calibri" pitchFamily="34" charset="-120"/>
              </a:rPr>
              <a:t>from Admin PC</a:t>
            </a:r>
            <a:endParaRPr lang="en-US" sz="950" dirty="0"/>
          </a:p>
        </p:txBody>
      </p:sp>
      <p:sp>
        <p:nvSpPr>
          <p:cNvPr id="30" name="Text 25"/>
          <p:cNvSpPr/>
          <p:nvPr/>
        </p:nvSpPr>
        <p:spPr>
          <a:xfrm>
            <a:off x="6675120" y="4425696"/>
            <a:ext cx="3566160" cy="274320"/>
          </a:xfrm>
          <a:prstGeom prst="rect">
            <a:avLst/>
          </a:prstGeom>
          <a:noFill/>
          <a:ln/>
        </p:spPr>
        <p:txBody>
          <a:bodyPr wrap="square" lIns="0" tIns="0" rIns="0" bIns="0" rtlCol="0" anchor="ctr"/>
          <a:lstStyle/>
          <a:p>
            <a:pPr indent="0" marL="0">
              <a:buNone/>
            </a:pPr>
            <a:r>
              <a:rPr lang="en-US" sz="1100" dirty="0">
                <a:solidFill>
                  <a:srgbClr val="D7F5EA"/>
                </a:solidFill>
                <a:latin typeface="Courier New" pitchFamily="34" charset="0"/>
                <a:ea typeface="Courier New" pitchFamily="34" charset="-122"/>
                <a:cs typeface="Courier New" pitchFamily="34" charset="-120"/>
              </a:rPr>
              <a:t>ping 192.168.1.1 (Admin)</a:t>
            </a:r>
            <a:endParaRPr lang="en-US" sz="1100" dirty="0"/>
          </a:p>
        </p:txBody>
      </p:sp>
      <p:pic>
        <p:nvPicPr>
          <p:cNvPr id="31" name="Image 3" descr="preencoded.png">    </p:cNvPr>
          <p:cNvPicPr>
            <a:picLocks noChangeAspect="1"/>
          </p:cNvPicPr>
          <p:nvPr/>
        </p:nvPicPr>
        <p:blipFill>
          <a:blip r:embed="rId4"/>
          <a:stretch>
            <a:fillRect/>
          </a:stretch>
        </p:blipFill>
        <p:spPr>
          <a:xfrm>
            <a:off x="10469880" y="4434840"/>
            <a:ext cx="256032" cy="256032"/>
          </a:xfrm>
          <a:prstGeom prst="rect">
            <a:avLst/>
          </a:prstGeom>
        </p:spPr>
      </p:pic>
      <p:sp>
        <p:nvSpPr>
          <p:cNvPr id="32" name="Text 26"/>
          <p:cNvSpPr/>
          <p:nvPr/>
        </p:nvSpPr>
        <p:spPr>
          <a:xfrm>
            <a:off x="6675120" y="4700016"/>
            <a:ext cx="4023360" cy="228600"/>
          </a:xfrm>
          <a:prstGeom prst="rect">
            <a:avLst/>
          </a:prstGeom>
          <a:noFill/>
          <a:ln/>
        </p:spPr>
        <p:txBody>
          <a:bodyPr wrap="square" lIns="0" tIns="0" rIns="0" bIns="0" rtlCol="0" anchor="ctr"/>
          <a:lstStyle/>
          <a:p>
            <a:pPr indent="0" marL="0">
              <a:buNone/>
            </a:pPr>
            <a:r>
              <a:rPr lang="en-US" sz="950" i="1" dirty="0">
                <a:solidFill>
                  <a:srgbClr val="8FA6B8"/>
                </a:solidFill>
                <a:latin typeface="Calibri" pitchFamily="34" charset="0"/>
                <a:ea typeface="Calibri" pitchFamily="34" charset="-122"/>
                <a:cs typeface="Calibri" pitchFamily="34" charset="-120"/>
              </a:rPr>
              <a:t>from Hostel PC</a:t>
            </a:r>
            <a:endParaRPr lang="en-US" sz="950" dirty="0"/>
          </a:p>
        </p:txBody>
      </p:sp>
      <p:sp>
        <p:nvSpPr>
          <p:cNvPr id="33" name="Text 27"/>
          <p:cNvSpPr/>
          <p:nvPr/>
        </p:nvSpPr>
        <p:spPr>
          <a:xfrm>
            <a:off x="6675120" y="5230368"/>
            <a:ext cx="4663440" cy="457200"/>
          </a:xfrm>
          <a:prstGeom prst="rect">
            <a:avLst/>
          </a:prstGeom>
          <a:noFill/>
          <a:ln/>
        </p:spPr>
        <p:txBody>
          <a:bodyPr wrap="square" lIns="0" tIns="0" rIns="0" bIns="0" rtlCol="0" anchor="ctr"/>
          <a:lstStyle/>
          <a:p>
            <a:pPr indent="0" marL="0">
              <a:buNone/>
            </a:pPr>
            <a:r>
              <a:rPr lang="en-US" sz="1050" i="1" dirty="0">
                <a:solidFill>
                  <a:srgbClr val="F2C744"/>
                </a:solidFill>
                <a:latin typeface="Calibri" pitchFamily="34" charset="0"/>
                <a:ea typeface="Calibri" pitchFamily="34" charset="-122"/>
                <a:cs typeface="Calibri" pitchFamily="34" charset="-120"/>
              </a:rPr>
              <a:t>Note: Hostel → Admin fails after ACL is applied (see next slide)</a:t>
            </a:r>
            <a:endParaRPr lang="en-US" sz="1050" dirty="0"/>
          </a:p>
        </p:txBody>
      </p:sp>
      <p:sp>
        <p:nvSpPr>
          <p:cNvPr id="34" name="Text 28"/>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Secure Campus Network Design</a:t>
            </a:r>
            <a:endParaRPr lang="en-US" sz="900" dirty="0"/>
          </a:p>
        </p:txBody>
      </p:sp>
      <p:sp>
        <p:nvSpPr>
          <p:cNvPr id="35" name="Text 29"/>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188720"/>
            <a:ext cx="3931920" cy="3931920"/>
          </a:xfrm>
          <a:prstGeom prst="ellipse">
            <a:avLst/>
          </a:prstGeom>
          <a:solidFill>
            <a:srgbClr val="065A82">
              <a:alpha val="40000"/>
            </a:srgbClr>
          </a:solidFill>
          <a:ln/>
        </p:spPr>
      </p:sp>
      <p:sp>
        <p:nvSpPr>
          <p:cNvPr id="3" name="Shape 1"/>
          <p:cNvSpPr/>
          <p:nvPr/>
        </p:nvSpPr>
        <p:spPr>
          <a:xfrm>
            <a:off x="548640" y="502920"/>
            <a:ext cx="777240" cy="777240"/>
          </a:xfrm>
          <a:prstGeom prst="ellipse">
            <a:avLst/>
          </a:prstGeom>
          <a:solidFill>
            <a:srgbClr val="1C7293"/>
          </a:solidFill>
          <a:ln/>
        </p:spPr>
      </p:sp>
      <p:pic>
        <p:nvPicPr>
          <p:cNvPr id="4" name="Image 0" descr="preencoded.png">    </p:cNvPr>
          <p:cNvPicPr>
            <a:picLocks noChangeAspect="1"/>
          </p:cNvPicPr>
          <p:nvPr/>
        </p:nvPicPr>
        <p:blipFill>
          <a:blip r:embed="rId1"/>
          <a:stretch>
            <a:fillRect/>
          </a:stretch>
        </p:blipFill>
        <p:spPr>
          <a:xfrm>
            <a:off x="731520" y="685800"/>
            <a:ext cx="411480" cy="411480"/>
          </a:xfrm>
          <a:prstGeom prst="rect">
            <a:avLst/>
          </a:prstGeom>
        </p:spPr>
      </p:pic>
      <p:sp>
        <p:nvSpPr>
          <p:cNvPr id="5" name="Text 2"/>
          <p:cNvSpPr/>
          <p:nvPr/>
        </p:nvSpPr>
        <p:spPr>
          <a:xfrm>
            <a:off x="1463040" y="4572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Security Using ACL</a:t>
            </a:r>
            <a:endParaRPr lang="en-US" sz="3200" dirty="0"/>
          </a:p>
        </p:txBody>
      </p:sp>
      <p:sp>
        <p:nvSpPr>
          <p:cNvPr id="6" name="Text 3"/>
          <p:cNvSpPr/>
          <p:nvPr/>
        </p:nvSpPr>
        <p:spPr>
          <a:xfrm>
            <a:off x="1463040" y="1051560"/>
            <a:ext cx="7315200" cy="365760"/>
          </a:xfrm>
          <a:prstGeom prst="rect">
            <a:avLst/>
          </a:prstGeom>
          <a:noFill/>
          <a:ln/>
        </p:spPr>
        <p:txBody>
          <a:bodyPr wrap="square" lIns="0" tIns="0" rIns="0" bIns="0" rtlCol="0" anchor="ctr"/>
          <a:lstStyle/>
          <a:p>
            <a:pPr indent="0" marL="0">
              <a:buNone/>
            </a:pPr>
            <a:r>
              <a:rPr lang="en-US" sz="1400" i="1" dirty="0">
                <a:solidFill>
                  <a:srgbClr val="B9CFE0"/>
                </a:solidFill>
                <a:latin typeface="Calibri" pitchFamily="34" charset="0"/>
                <a:ea typeface="Calibri" pitchFamily="34" charset="-122"/>
                <a:cs typeface="Calibri" pitchFamily="34" charset="-120"/>
              </a:rPr>
              <a:t>Access Control List applied on the router interface</a:t>
            </a:r>
            <a:endParaRPr lang="en-US" sz="1400" dirty="0"/>
          </a:p>
        </p:txBody>
      </p:sp>
      <p:sp>
        <p:nvSpPr>
          <p:cNvPr id="7" name="Shape 4"/>
          <p:cNvSpPr/>
          <p:nvPr/>
        </p:nvSpPr>
        <p:spPr>
          <a:xfrm>
            <a:off x="548640" y="1783080"/>
            <a:ext cx="5394960" cy="1371600"/>
          </a:xfrm>
          <a:prstGeom prst="roundRect">
            <a:avLst>
              <a:gd name="adj" fmla="val 6000"/>
            </a:avLst>
          </a:prstGeom>
          <a:solidFill>
            <a:srgbClr val="351E22"/>
          </a:solidFill>
          <a:ln w="12700">
            <a:solidFill>
              <a:srgbClr val="C0392B"/>
            </a:solidFill>
            <a:prstDash val="solid"/>
          </a:ln>
        </p:spPr>
      </p:sp>
      <p:pic>
        <p:nvPicPr>
          <p:cNvPr id="8" name="Image 1" descr="preencoded.png">    </p:cNvPr>
          <p:cNvPicPr>
            <a:picLocks noChangeAspect="1"/>
          </p:cNvPicPr>
          <p:nvPr/>
        </p:nvPicPr>
        <p:blipFill>
          <a:blip r:embed="rId2"/>
          <a:stretch>
            <a:fillRect/>
          </a:stretch>
        </p:blipFill>
        <p:spPr>
          <a:xfrm>
            <a:off x="822960" y="2011680"/>
            <a:ext cx="457200" cy="457200"/>
          </a:xfrm>
          <a:prstGeom prst="rect">
            <a:avLst/>
          </a:prstGeom>
        </p:spPr>
      </p:pic>
      <p:sp>
        <p:nvSpPr>
          <p:cNvPr id="9" name="Text 5"/>
          <p:cNvSpPr/>
          <p:nvPr/>
        </p:nvSpPr>
        <p:spPr>
          <a:xfrm>
            <a:off x="1417320" y="1984248"/>
            <a:ext cx="1828800" cy="365760"/>
          </a:xfrm>
          <a:prstGeom prst="rect">
            <a:avLst/>
          </a:prstGeom>
          <a:noFill/>
          <a:ln/>
        </p:spPr>
        <p:txBody>
          <a:bodyPr wrap="square" lIns="0" tIns="0" rIns="0" bIns="0" rtlCol="0" anchor="ctr"/>
          <a:lstStyle/>
          <a:p>
            <a:pPr indent="0" marL="0">
              <a:buNone/>
            </a:pPr>
            <a:r>
              <a:rPr lang="en-US" sz="1600" b="1" dirty="0">
                <a:solidFill>
                  <a:srgbClr val="FF6B6B"/>
                </a:solidFill>
                <a:latin typeface="Calibri" pitchFamily="34" charset="0"/>
                <a:ea typeface="Calibri" pitchFamily="34" charset="-122"/>
                <a:cs typeface="Calibri" pitchFamily="34" charset="-120"/>
              </a:rPr>
              <a:t>DENY</a:t>
            </a:r>
            <a:endParaRPr lang="en-US" sz="1600" dirty="0"/>
          </a:p>
        </p:txBody>
      </p:sp>
      <p:sp>
        <p:nvSpPr>
          <p:cNvPr id="10" name="Text 6"/>
          <p:cNvSpPr/>
          <p:nvPr/>
        </p:nvSpPr>
        <p:spPr>
          <a:xfrm>
            <a:off x="1417320" y="2331720"/>
            <a:ext cx="429768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Hostel → Admin traffic</a:t>
            </a:r>
            <a:endParaRPr lang="en-US" sz="1400" dirty="0"/>
          </a:p>
        </p:txBody>
      </p:sp>
      <p:sp>
        <p:nvSpPr>
          <p:cNvPr id="11" name="Text 7"/>
          <p:cNvSpPr/>
          <p:nvPr/>
        </p:nvSpPr>
        <p:spPr>
          <a:xfrm>
            <a:off x="822960" y="2715768"/>
            <a:ext cx="4892040" cy="365760"/>
          </a:xfrm>
          <a:prstGeom prst="rect">
            <a:avLst/>
          </a:prstGeom>
          <a:noFill/>
          <a:ln/>
        </p:spPr>
        <p:txBody>
          <a:bodyPr wrap="square" lIns="0" tIns="0" rIns="0" bIns="0" rtlCol="0" anchor="ctr"/>
          <a:lstStyle/>
          <a:p>
            <a:pPr indent="0" marL="0">
              <a:buNone/>
            </a:pPr>
            <a:r>
              <a:rPr lang="en-US" sz="950" dirty="0">
                <a:solidFill>
                  <a:srgbClr val="F1A7A7"/>
                </a:solidFill>
                <a:latin typeface="Courier New" pitchFamily="34" charset="0"/>
                <a:ea typeface="Courier New" pitchFamily="34" charset="-122"/>
                <a:cs typeface="Courier New" pitchFamily="34" charset="-120"/>
              </a:rPr>
              <a:t>access-list 101 deny ip 192.168.3.0 0.0.0.255 192.168.1.0 0.0.0.255</a:t>
            </a:r>
            <a:endParaRPr lang="en-US" sz="950" dirty="0"/>
          </a:p>
        </p:txBody>
      </p:sp>
      <p:sp>
        <p:nvSpPr>
          <p:cNvPr id="12" name="Shape 8"/>
          <p:cNvSpPr/>
          <p:nvPr/>
        </p:nvSpPr>
        <p:spPr>
          <a:xfrm>
            <a:off x="6172200" y="1783080"/>
            <a:ext cx="5394960" cy="1371600"/>
          </a:xfrm>
          <a:prstGeom prst="roundRect">
            <a:avLst>
              <a:gd name="adj" fmla="val 6000"/>
            </a:avLst>
          </a:prstGeom>
          <a:solidFill>
            <a:srgbClr val="1A3A2E"/>
          </a:solidFill>
          <a:ln w="12700">
            <a:solidFill>
              <a:srgbClr val="1E8A5F"/>
            </a:solidFill>
            <a:prstDash val="solid"/>
          </a:ln>
        </p:spPr>
      </p:sp>
      <p:pic>
        <p:nvPicPr>
          <p:cNvPr id="13" name="Image 2" descr="preencoded.png">    </p:cNvPr>
          <p:cNvPicPr>
            <a:picLocks noChangeAspect="1"/>
          </p:cNvPicPr>
          <p:nvPr/>
        </p:nvPicPr>
        <p:blipFill>
          <a:blip r:embed="rId3"/>
          <a:stretch>
            <a:fillRect/>
          </a:stretch>
        </p:blipFill>
        <p:spPr>
          <a:xfrm>
            <a:off x="6446520" y="2011680"/>
            <a:ext cx="457200" cy="457200"/>
          </a:xfrm>
          <a:prstGeom prst="rect">
            <a:avLst/>
          </a:prstGeom>
        </p:spPr>
      </p:pic>
      <p:sp>
        <p:nvSpPr>
          <p:cNvPr id="14" name="Text 9"/>
          <p:cNvSpPr/>
          <p:nvPr/>
        </p:nvSpPr>
        <p:spPr>
          <a:xfrm>
            <a:off x="7040880" y="1984248"/>
            <a:ext cx="1828800" cy="365760"/>
          </a:xfrm>
          <a:prstGeom prst="rect">
            <a:avLst/>
          </a:prstGeom>
          <a:noFill/>
          <a:ln/>
        </p:spPr>
        <p:txBody>
          <a:bodyPr wrap="square" lIns="0" tIns="0" rIns="0" bIns="0" rtlCol="0" anchor="ctr"/>
          <a:lstStyle/>
          <a:p>
            <a:pPr indent="0" marL="0">
              <a:buNone/>
            </a:pPr>
            <a:r>
              <a:rPr lang="en-US" sz="1600" b="1" dirty="0">
                <a:solidFill>
                  <a:srgbClr val="6FE3A6"/>
                </a:solidFill>
                <a:latin typeface="Calibri" pitchFamily="34" charset="0"/>
                <a:ea typeface="Calibri" pitchFamily="34" charset="-122"/>
                <a:cs typeface="Calibri" pitchFamily="34" charset="-120"/>
              </a:rPr>
              <a:t>PERMIT</a:t>
            </a:r>
            <a:endParaRPr lang="en-US" sz="1600" dirty="0"/>
          </a:p>
        </p:txBody>
      </p:sp>
      <p:sp>
        <p:nvSpPr>
          <p:cNvPr id="15" name="Text 10"/>
          <p:cNvSpPr/>
          <p:nvPr/>
        </p:nvSpPr>
        <p:spPr>
          <a:xfrm>
            <a:off x="7040880" y="2331720"/>
            <a:ext cx="429768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Admin → Hostel traffic</a:t>
            </a:r>
            <a:endParaRPr lang="en-US" sz="1400" dirty="0"/>
          </a:p>
        </p:txBody>
      </p:sp>
      <p:sp>
        <p:nvSpPr>
          <p:cNvPr id="16" name="Text 11"/>
          <p:cNvSpPr/>
          <p:nvPr/>
        </p:nvSpPr>
        <p:spPr>
          <a:xfrm>
            <a:off x="6446520" y="2715768"/>
            <a:ext cx="4892040" cy="365760"/>
          </a:xfrm>
          <a:prstGeom prst="rect">
            <a:avLst/>
          </a:prstGeom>
          <a:noFill/>
          <a:ln/>
        </p:spPr>
        <p:txBody>
          <a:bodyPr wrap="square" lIns="0" tIns="0" rIns="0" bIns="0" rtlCol="0" anchor="ctr"/>
          <a:lstStyle/>
          <a:p>
            <a:pPr indent="0" marL="0">
              <a:buNone/>
            </a:pPr>
            <a:r>
              <a:rPr lang="en-US" sz="950" dirty="0">
                <a:solidFill>
                  <a:srgbClr val="A7E3C4"/>
                </a:solidFill>
                <a:latin typeface="Courier New" pitchFamily="34" charset="0"/>
                <a:ea typeface="Courier New" pitchFamily="34" charset="-122"/>
                <a:cs typeface="Courier New" pitchFamily="34" charset="-120"/>
              </a:rPr>
              <a:t>access-list 101 permit ip 192.168.1.0 0.0.0.255 192.168.3.0 0.0.0.255</a:t>
            </a:r>
            <a:endParaRPr lang="en-US" sz="950" dirty="0"/>
          </a:p>
        </p:txBody>
      </p:sp>
      <p:sp>
        <p:nvSpPr>
          <p:cNvPr id="17" name="Text 12"/>
          <p:cNvSpPr/>
          <p:nvPr/>
        </p:nvSpPr>
        <p:spPr>
          <a:xfrm>
            <a:off x="548640" y="3383280"/>
            <a:ext cx="10972800" cy="365760"/>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Applied on: </a:t>
            </a:r>
            <a:pPr indent="0" marL="0">
              <a:buNone/>
            </a:pPr>
            <a:r>
              <a:rPr lang="en-US" sz="1300" dirty="0">
                <a:solidFill>
                  <a:srgbClr val="DCEAF2"/>
                </a:solidFill>
                <a:latin typeface="Calibri" pitchFamily="34" charset="0"/>
                <a:ea typeface="Calibri" pitchFamily="34" charset="-122"/>
                <a:cs typeface="Calibri" pitchFamily="34" charset="-120"/>
              </a:rPr>
              <a:t>Router interface facing Hostel VLAN (Fa0/3), direction: inbound</a:t>
            </a:r>
            <a:endParaRPr lang="en-US" sz="1300" dirty="0"/>
          </a:p>
        </p:txBody>
      </p:sp>
      <p:sp>
        <p:nvSpPr>
          <p:cNvPr id="18" name="Shape 13"/>
          <p:cNvSpPr/>
          <p:nvPr/>
        </p:nvSpPr>
        <p:spPr>
          <a:xfrm>
            <a:off x="548640" y="4709160"/>
            <a:ext cx="11018520" cy="1371600"/>
          </a:xfrm>
          <a:prstGeom prst="roundRect">
            <a:avLst>
              <a:gd name="adj" fmla="val 6000"/>
            </a:avLst>
          </a:prstGeom>
          <a:solidFill>
            <a:srgbClr val="132850"/>
          </a:solidFill>
          <a:ln/>
        </p:spPr>
      </p:sp>
      <p:pic>
        <p:nvPicPr>
          <p:cNvPr id="19" name="Image 3" descr="preencoded.png">    </p:cNvPr>
          <p:cNvPicPr>
            <a:picLocks noChangeAspect="1"/>
          </p:cNvPicPr>
          <p:nvPr/>
        </p:nvPicPr>
        <p:blipFill>
          <a:blip r:embed="rId4"/>
          <a:stretch>
            <a:fillRect/>
          </a:stretch>
        </p:blipFill>
        <p:spPr>
          <a:xfrm>
            <a:off x="868680" y="5074920"/>
            <a:ext cx="640080" cy="640080"/>
          </a:xfrm>
          <a:prstGeom prst="rect">
            <a:avLst/>
          </a:prstGeom>
        </p:spPr>
      </p:pic>
      <p:sp>
        <p:nvSpPr>
          <p:cNvPr id="20" name="Text 14"/>
          <p:cNvSpPr/>
          <p:nvPr/>
        </p:nvSpPr>
        <p:spPr>
          <a:xfrm>
            <a:off x="1737360" y="4892040"/>
            <a:ext cx="95097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Result: One-Way Communication Achieved</a:t>
            </a:r>
            <a:endParaRPr lang="en-US" sz="1800" dirty="0"/>
          </a:p>
        </p:txBody>
      </p:sp>
      <p:sp>
        <p:nvSpPr>
          <p:cNvPr id="21" name="Text 15"/>
          <p:cNvSpPr/>
          <p:nvPr/>
        </p:nvSpPr>
        <p:spPr>
          <a:xfrm>
            <a:off x="1737360" y="5349240"/>
            <a:ext cx="9418320" cy="640080"/>
          </a:xfrm>
          <a:prstGeom prst="rect">
            <a:avLst/>
          </a:prstGeom>
          <a:noFill/>
          <a:ln/>
        </p:spPr>
        <p:txBody>
          <a:bodyPr wrap="square" lIns="0" tIns="0" rIns="0" bIns="0" rtlCol="0" anchor="ctr"/>
          <a:lstStyle/>
          <a:p>
            <a:pPr indent="0" marL="0">
              <a:buNone/>
            </a:pPr>
            <a:r>
              <a:rPr lang="en-US" sz="1250" dirty="0">
                <a:solidFill>
                  <a:srgbClr val="C7D9E8"/>
                </a:solidFill>
                <a:latin typeface="Calibri" pitchFamily="34" charset="0"/>
                <a:ea typeface="Calibri" pitchFamily="34" charset="-122"/>
                <a:cs typeface="Calibri" pitchFamily="34" charset="-120"/>
              </a:rPr>
              <a:t>Admin can reach Hostel, but Hostel cannot reach Admin — confirming the ACL successfully enforces one-directional, secure access between departments.</a:t>
            </a:r>
            <a:endParaRPr lang="en-US" sz="1250" dirty="0"/>
          </a:p>
        </p:txBody>
      </p:sp>
      <p:sp>
        <p:nvSpPr>
          <p:cNvPr id="22" name="Text 16"/>
          <p:cNvSpPr/>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Secure Campus Network Design</a:t>
            </a:r>
            <a:endParaRPr lang="en-US" sz="900" dirty="0"/>
          </a:p>
        </p:txBody>
      </p:sp>
      <p:sp>
        <p:nvSpPr>
          <p:cNvPr id="23" name="Text 17"/>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Implementation of a Secure Campus Network</dc:title>
  <dc:subject>PptxGenJS Presentation</dc:subject>
  <dc:creator>Student</dc:creator>
  <cp:lastModifiedBy>Student</cp:lastModifiedBy>
  <cp:revision>1</cp:revision>
  <dcterms:created xsi:type="dcterms:W3CDTF">2026-07-03T15:28:12Z</dcterms:created>
  <dcterms:modified xsi:type="dcterms:W3CDTF">2026-07-03T15:28:12Z</dcterms:modified>
</cp:coreProperties>
</file>